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1" r:id="rId14"/>
    <p:sldId id="272" r:id="rId15"/>
    <p:sldId id="273" r:id="rId16"/>
  </p:sldIdLst>
  <p:sldSz cx="18288000" cy="10287000"/>
  <p:notesSz cx="6858000" cy="9144000"/>
  <p:embeddedFontLst>
    <p:embeddedFont>
      <p:font typeface="Times New Roman Bold" panose="02020803070505020304" pitchFamily="18" charset="0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24" y="-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B013C-D0EA-46D8-81F4-E955A3A324C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E08AE-9615-4FCE-95BD-28FBA1CEC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7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6E08AE-9615-4FCE-95BD-28FBA1CECB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B23E-E68F-4D29-868F-F48FE06A1AB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F9E2-4BA1-4A92-858C-2D2118597E17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378E-B9A6-4E08-AC24-2DA70F86957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ED8C-6C7A-4D36-A1C6-B73AFA7FB1B7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7444-BF85-4FB2-957F-2E90BD3DE5B8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8EECC-C809-4F80-B9FC-EEA2EE3435CD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ECC3-1CE6-4761-876B-83A6F788EE7D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79E7-F408-443A-B0B9-2C0B573B9885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0F75-5A65-46D5-9F6C-21C3D68DFD9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302E-931B-4E9E-BC77-C9771740EF9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3458D-B529-497E-A6F4-53ABB7C5A5D1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33925" y="607791"/>
            <a:ext cx="10210800" cy="1995489"/>
            <a:chOff x="0" y="0"/>
            <a:chExt cx="9681351" cy="18920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81351" cy="1892019"/>
            </a:xfrm>
            <a:custGeom>
              <a:avLst/>
              <a:gdLst/>
              <a:ahLst/>
              <a:cxnLst/>
              <a:rect l="l" t="t" r="r" b="b"/>
              <a:pathLst>
                <a:path w="9681351" h="1892019">
                  <a:moveTo>
                    <a:pt x="0" y="0"/>
                  </a:moveTo>
                  <a:lnTo>
                    <a:pt x="9681351" y="0"/>
                  </a:lnTo>
                  <a:lnTo>
                    <a:pt x="9681351" y="1892019"/>
                  </a:lnTo>
                  <a:lnTo>
                    <a:pt x="0" y="18920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681351" cy="19586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SRM INSTITUTE OF SCIENCE AND TECHNOLOGY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Ramapuram</a:t>
              </a:r>
              <a:r>
                <a:rPr lang="en-US" sz="27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, Chennai – 600 089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SCHOOL OF COMPUTER SCIENCE AND ENGINEERING DEPARTMENT OF COMPUTER SCIENCE AND ENGINEERING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78956" y="2633597"/>
            <a:ext cx="12130087" cy="3347165"/>
            <a:chOff x="0" y="-149992"/>
            <a:chExt cx="11501119" cy="3173609"/>
          </a:xfrm>
        </p:grpSpPr>
        <p:sp>
          <p:nvSpPr>
            <p:cNvPr id="6" name="Freeform 6"/>
            <p:cNvSpPr/>
            <p:nvPr/>
          </p:nvSpPr>
          <p:spPr>
            <a:xfrm>
              <a:off x="13546" y="-149992"/>
              <a:ext cx="11487573" cy="3023617"/>
            </a:xfrm>
            <a:custGeom>
              <a:avLst/>
              <a:gdLst/>
              <a:ahLst/>
              <a:cxnLst/>
              <a:rect l="l" t="t" r="r" b="b"/>
              <a:pathLst>
                <a:path w="11487573" h="3023617">
                  <a:moveTo>
                    <a:pt x="0" y="0"/>
                  </a:moveTo>
                  <a:lnTo>
                    <a:pt x="11487573" y="0"/>
                  </a:lnTo>
                  <a:lnTo>
                    <a:pt x="11487573" y="3023617"/>
                  </a:lnTo>
                  <a:lnTo>
                    <a:pt x="0" y="3023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1487573" cy="309981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19"/>
                </a:lnSpc>
              </a:pPr>
              <a:r>
                <a:rPr lang="en-US" sz="3599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21CSC305P </a:t>
              </a:r>
              <a:r>
                <a:rPr lang="en-US" sz="35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</a:t>
              </a:r>
              <a:r>
                <a:rPr lang="en-US" sz="3599" dirty="0">
                  <a:solidFill>
                    <a:schemeClr val="tx2">
                      <a:lumMod val="75000"/>
                    </a:scheme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Machine Learning </a:t>
              </a:r>
            </a:p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chemeClr val="bg2">
                      <a:lumMod val="50000"/>
                    </a:scheme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Review</a:t>
              </a:r>
            </a:p>
            <a:p>
              <a:pPr algn="ctr">
                <a:lnSpc>
                  <a:spcPts val="4319"/>
                </a:lnSpc>
              </a:pP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Toxic Language Detection and Content Filtering</a:t>
              </a:r>
              <a:endParaRPr lang="en-US" sz="35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algn="ctr">
                <a:lnSpc>
                  <a:spcPts val="4319"/>
                </a:lnSpc>
              </a:pPr>
              <a:endParaRPr dirty="0"/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86580"/>
              </p:ext>
            </p:extLst>
          </p:nvPr>
        </p:nvGraphicFramePr>
        <p:xfrm>
          <a:off x="2486025" y="5913694"/>
          <a:ext cx="12458700" cy="3776337"/>
        </p:xfrm>
        <a:graphic>
          <a:graphicData uri="http://schemas.openxmlformats.org/drawingml/2006/table">
            <a:tbl>
              <a:tblPr/>
              <a:tblGrid>
                <a:gridCol w="795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183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Team Members</a:t>
                      </a: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Supervisor</a:t>
                      </a:r>
                      <a:endParaRPr lang="en-US" sz="1100" dirty="0"/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8810">
                <a:tc>
                  <a:txBody>
                    <a:bodyPr/>
                    <a:lstStyle/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VILASNI M (RA2311003020003)</a:t>
                      </a: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MOHAMED SHAKEEL M S (RA2311003020012)</a:t>
                      </a: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HARIHARAN S (RA2311003020022)</a:t>
                      </a: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TAMIZHSELAN A(RA2311003020042)</a:t>
                      </a: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ts val="1679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Dr.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Adlene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Ebenezer P,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Assistant Professor,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SRM IST,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Ramapuram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Freeform 15"/>
          <p:cNvSpPr/>
          <p:nvPr/>
        </p:nvSpPr>
        <p:spPr>
          <a:xfrm>
            <a:off x="2406226" y="972659"/>
            <a:ext cx="2356274" cy="1022034"/>
          </a:xfrm>
          <a:custGeom>
            <a:avLst/>
            <a:gdLst/>
            <a:ahLst/>
            <a:cxnLst/>
            <a:rect l="l" t="t" r="r" b="b"/>
            <a:pathLst>
              <a:path w="2356274" h="1022034">
                <a:moveTo>
                  <a:pt x="0" y="0"/>
                </a:moveTo>
                <a:lnTo>
                  <a:pt x="2356274" y="0"/>
                </a:lnTo>
                <a:lnTo>
                  <a:pt x="2356274" y="1022034"/>
                </a:lnTo>
                <a:lnTo>
                  <a:pt x="0" y="102203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12" b="-1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F812-2CB0-EC99-46B2-43CF47AF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4638"/>
            <a:ext cx="15544800" cy="1668462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5367F-82D5-5521-F0FB-883DD8CC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4AE5-2786-3D06-D6C4-5DC60108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F335-9B38-7F28-4BA6-F7BF4FA0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7819281-8BA6-AA78-A2FE-E2BDEEE51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863" y="2400300"/>
            <a:ext cx="9220200" cy="678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Language Detection &amp; Content Filtering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platforms like YouTube, Instagram, and Twitter face rising toxic and abusive comments.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detects and blurs offensive content in real-time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user safety while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promoting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and inclusive online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82E46D-20F6-8120-4257-ED60091C3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463" y="2425890"/>
            <a:ext cx="57150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1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2476-92D3-46B4-B2C6-8795EBB0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74638"/>
            <a:ext cx="14935200" cy="11430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 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5FE0-1A9D-44ED-8E05-9F1451B71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836642"/>
            <a:ext cx="16078200" cy="795505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API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Sends user comments to Google’s API for toxicity scoring.</a:t>
            </a:r>
          </a:p>
          <a:p>
            <a:pPr algn="just">
              <a:lnSpc>
                <a:spcPct val="16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 Needs each comment to be sent individually → not fully real-time;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requires internet connection.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IBM MAX Toxic Comment Classifier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Cloud ML model analyses submitted text for abusive content.</a:t>
            </a:r>
          </a:p>
          <a:p>
            <a:pPr algn="just">
              <a:lnSpc>
                <a:spcPct val="16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 Sensitive user data sent externally → privacy concerns.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Roblox </a:t>
            </a:r>
            <a:r>
              <a:rPr lang="en-I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Sentinel</a:t>
            </a:r>
            <a:r>
              <a:rPr lang="en-IN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works: Monitors all user messages (chats, posts) for inappropriate content.</a:t>
            </a:r>
          </a:p>
          <a:p>
            <a:pPr algn="just">
              <a:lnSpc>
                <a:spcPct val="16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 Scans all text, not just comments → intrusive, impacts privacy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7C445-B8F3-7040-6BF8-28D0C306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AFF26-A8F7-631C-48C5-E933A14B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A9699-1F42-7BDE-3ADD-083C102D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2A0C-A4A3-4816-508C-62FD81B2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57200"/>
            <a:ext cx="15697200" cy="171450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4044-C045-87CC-B615-AFB5A773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B1FE-9ADC-70C1-B890-94F16E6F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5887A-F46F-4CAA-5B28-A9F31796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554136E-7837-F5B7-2CC3-D21AC95FCA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42726"/>
            <a:ext cx="10161896" cy="5913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toxic and abusive comments automatically in online platforms.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Blur or hide offensive content to improve user experience and digital safety.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real-time, privacy-preserving solution without sending user data to external servers.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lightweight, efficient system that can be integrated with any website or social media platform.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2CE226-1328-0314-452B-11A676A9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454" y="2633059"/>
            <a:ext cx="4944754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2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86EA-E472-CAC0-EB3C-CA4515FB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F09A-2754-E784-27F3-4DB6E7D9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0C21-5192-43D4-BEAD-74D1102D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ECD6D-6AD6-860E-4866-CF7F91CC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B58C389-2000-2232-080C-A3E006729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833464"/>
              </p:ext>
            </p:extLst>
          </p:nvPr>
        </p:nvGraphicFramePr>
        <p:xfrm>
          <a:off x="1600200" y="3543300"/>
          <a:ext cx="15316200" cy="655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67640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Hydrangea@DravidianLangTech2025: Abusive language Identification from Tamil and Malayalam Text using Transformer Models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 transformer models (BERT, XLM-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on YouTube comments in Tamil &amp; Malayalam.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XLM-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gave the best F1 in both languages.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worked well for Tamil but dropped significantly for Malayalam (low-resource setting). Shows that multilingual pre-training helps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64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FC8A-FC25-69D0-B092-2CC44188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3769-F952-C95C-729B-2B3318993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B4A17-7754-FE88-0BD9-58AC62EA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C4EA9-B9F5-F1C3-6544-BBFAEDB9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EACC-0A15-FD32-DFA1-15582679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81D253B9-3567-8C49-0F72-F83412F6A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210640"/>
              </p:ext>
            </p:extLst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Text-to-Text Model for Multilingual Offensive Language Identification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text-to-text transformer models (T5, mT5) trained on multiple offensive language datasets (SOLID, CCTK), combining datasets for multilingual offensive/hate/offensive content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T5-based models outperform many encoder-only transformers. The multilingual version (mT5) performs very well across several languages, showing that multilingual models generalize better.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44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EB15-2F4A-0AD3-70F8-ABAD4F65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BF53-3ED2-4274-891D-D87BA418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F2E81-B1FF-28FC-0731-B2E2973B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10801-E826-E4A6-450C-81CB4BC6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E5B52-FDF5-9EEC-73F6-6035BEAF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F23431B8-D4E2-F11E-E778-97167D3380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6402901"/>
              </p:ext>
            </p:extLst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BanglaHateBERT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BERT for Abusive Language Detection in Bengali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Retrain (fine tune) a BERT variant for Bengali using a large corpus of Bengali hateful/abusive posts, balanced hate-speech annotations, etc. Comparison vs generic BERT</a:t>
                      </a:r>
                      <a:r>
                        <a:rPr lang="en-IN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BanglaHateBERT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outperforms generic pre-trained BERT in Bengali abusive detection tasks. Important example of how retraining on language-specific abusive content improves performance in non-English or low-resource settings.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43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791F-1FC3-FE83-5B0F-2B471177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20F4-1BCA-F09C-7C96-B11D075E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0FA41-F624-94CB-2A4C-399E5301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902D-7403-A92F-8116-E9361C4B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EAFF8-F606-9605-F005-7B75B9A0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67FDAAD-31EE-99AF-A089-7B14E1212E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304729"/>
              </p:ext>
            </p:extLst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Toxic Content Detection by Bootstrapping and Distilling Large Language Models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Bootstraps large language models (LLMs) and distills them into smaller student models; uses a prompting method called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Decision-Tree-of-Thought (</a:t>
                      </a:r>
                      <a:r>
                        <a:rPr lang="en-US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DToT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fine-tunes student models with rationales extracted from LLMs.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distilled student models are much smaller and faster but still maintain strong accuracy and cross-dataset performance. Good example for how to make a lightweight model for toxicity detection.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1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1C3B-6F2D-AAB0-E868-19B6190F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EC7F-7897-AAA6-1B8F-F3AB6D57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15392400" cy="3040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4D47C-95D6-5ED2-1751-93F019EF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64C0-E972-8B65-13D6-F6F5E830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68217-3780-D4CF-D786-4A2F7DCA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BE093958-1D7A-3C72-918E-FDC573784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61604"/>
              </p:ext>
            </p:extLst>
          </p:nvPr>
        </p:nvGraphicFramePr>
        <p:xfrm>
          <a:off x="1524000" y="3543300"/>
          <a:ext cx="15392400" cy="662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11237928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128997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576380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54150992"/>
                    </a:ext>
                  </a:extLst>
                </a:gridCol>
              </a:tblGrid>
              <a:tr h="1753230"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METHADOLOGY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242231"/>
                  </a:ext>
                </a:extLst>
              </a:tr>
              <a:tr h="487617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CNLP-NITS-PP at GenAI Detection Task 3: Cross-Domain Machine-Generated Text Detection Using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Techniques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the task of detecting machine-generated text; addresses adversarial strategies (paraphrasing, misspellings, etc.) with cross-domain data training.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capable of performing well even when text is adversarial or from different domains. Useful for your project if comments also come from diverse sources.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92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52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CF6E-AE3E-45CD-A55A-AB790519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7012"/>
            <a:ext cx="15316200" cy="209708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28C4F9-1FE9-BEC7-F700-4BF93BEC8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331" y="2552700"/>
            <a:ext cx="11241301" cy="49848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8666-3D84-6596-6C9E-68F071F9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02AC-3008-9177-E1CF-55979FA6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BC958-4A47-6C4D-4A6D-9EAD28CB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2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F33D-15A3-F794-015F-C0D31F14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4212-D521-6C2A-6EDF-CE2F9A70B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text data containing toxic, abusive, or offensive comments from publicly available datasets.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training and testing data in CSV format for the model.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is cleaned, labeled, and representative of different types of abusive language.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EB2B3-9B39-99C4-24B8-7AB2EEB3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78D95-1F19-78DA-EB5F-4D8DBB7C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865D2-799D-11F6-5B18-1A9295DF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F71368-03F1-93E4-5BB6-8177AE6A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3086100"/>
            <a:ext cx="3352800" cy="57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46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7694-0EF8-A64B-E532-352F8FD5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323B-C94B-9285-67FD-FBD6C476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BBB05-AFF0-DAE2-56FE-005A359A4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Model Training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machine learning model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toxic comment detection.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tokenization and self-attention mechanisms to understand the context and meaning of text.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model for high accuracy, precision, and recall on detecting abusive comments.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A57FD-81D5-FE3A-04D6-3C262439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3B5DB-A229-A16E-71FF-2E58E619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35B22-1C71-11EC-C4BA-B5191BA7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555D9F-1A16-0584-F3B6-5FAA674FD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071711"/>
            <a:ext cx="4092575" cy="818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8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5D51-E337-E4C2-B9F6-522F116F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EC2F-83A5-32E8-E6F1-ABD7C3D9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AE5A0-CC64-2CEE-8BD2-77C95B31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Backend API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Flask API to serve the trained model.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text input from front-end or extension and return predictions in real-time.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local processing to maintain privacy and efficiency.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4EA88-A903-8714-4ED7-EFCBDDAA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6D7D8-A5C6-BE11-8703-B17EE62E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AA9EB-2C17-2918-3A36-BB9C6D5D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8DA9D8-960A-36D1-8403-227425AE5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455460"/>
            <a:ext cx="4724400" cy="460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1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B4DD-F3C4-6EF8-60A7-FF21EF94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69CF-2EB6-6749-3A52-49E0BC9B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18FC9-B606-780E-438A-F83BDF755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Browser Extension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Chrome/Edge extension to integrate the detection system with websites.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scan comments on a page and blur abusive content.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toggle button to unblur content if needed.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8CFAB-708F-F678-BFDC-9C3FF87E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EC35E-94DC-7B3F-26B2-72BBA046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02742-C307-72B1-F2B3-872BF936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8E6E38-63F6-B23C-BB4E-19FD9DB50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806" y="2189328"/>
            <a:ext cx="49911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65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BFA85-D0CC-06A6-9CBB-AF98AE92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6B15-B96F-0970-54E6-9DDB969C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15316200" cy="18970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B4A2-8109-72B9-5519-A17EFB83A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476500"/>
            <a:ext cx="9144000" cy="6858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Real-time Comment Filtering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trained model, backend API, and extension for live usage.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 works seamlessly on platforms like YouTube or Instagram.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users with a safer browsing experience without disrupting normal interaction.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0DE23-3207-2696-BDCA-BCF1E9CB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6EEC-9EB0-4754-B7F3-F7363CAB860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8FE2C-7641-4531-0C6E-81FCC1E8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CBB77-8548-5DA7-93A8-23CD17E6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783C0-2037-4397-A307-9EE979E1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2752724"/>
            <a:ext cx="5235102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64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981</Words>
  <Application>Microsoft Office PowerPoint</Application>
  <PresentationFormat>Custom</PresentationFormat>
  <Paragraphs>147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Times New Roman Bold</vt:lpstr>
      <vt:lpstr>Times New Roman</vt:lpstr>
      <vt:lpstr>Arial</vt:lpstr>
      <vt:lpstr>Calibri</vt:lpstr>
      <vt:lpstr>Office Theme</vt:lpstr>
      <vt:lpstr>PowerPoint Presentation</vt:lpstr>
      <vt:lpstr>INTRODUCTION</vt:lpstr>
      <vt:lpstr>EXISTIN PROBLEM STATEMENT</vt:lpstr>
      <vt:lpstr>OBJECTIVE</vt:lpstr>
      <vt:lpstr>LITERATURE SURVEY  PAPER 1 </vt:lpstr>
      <vt:lpstr>LITERATURE SURVEY  PAPER 2 </vt:lpstr>
      <vt:lpstr>LITERATURE SURVEY  PAPER 3 </vt:lpstr>
      <vt:lpstr>LITERATURE SURVEY  PAPER 4 </vt:lpstr>
      <vt:lpstr>LITERATURE SURVEY  PAPER 5 </vt:lpstr>
      <vt:lpstr>ARCHITECTURE DIAGRAM</vt:lpstr>
      <vt:lpstr>MODULE DESCRIPTION</vt:lpstr>
      <vt:lpstr>MODULE DESCRIPTION</vt:lpstr>
      <vt:lpstr>MODULE DESCRIPTION</vt:lpstr>
      <vt:lpstr>MODULE DESCRIPTION</vt:lpstr>
      <vt:lpstr>MODULE 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Zeroth review</dc:title>
  <dc:creator>Abhisheik Yerubothu</dc:creator>
  <cp:lastModifiedBy>vilasni M</cp:lastModifiedBy>
  <cp:revision>9</cp:revision>
  <dcterms:created xsi:type="dcterms:W3CDTF">2006-08-16T00:00:00Z</dcterms:created>
  <dcterms:modified xsi:type="dcterms:W3CDTF">2025-10-07T07:08:56Z</dcterms:modified>
  <dc:identifier>DAGvxgQbVlA</dc:identifier>
</cp:coreProperties>
</file>