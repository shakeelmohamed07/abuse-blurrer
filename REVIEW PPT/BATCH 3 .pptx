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8" r:id="rId3"/>
    <p:sldId id="259" r:id="rId4"/>
    <p:sldId id="260" r:id="rId5"/>
    <p:sldId id="261" r:id="rId6"/>
    <p:sldId id="270" r:id="rId7"/>
    <p:sldId id="271" r:id="rId8"/>
    <p:sldId id="272" r:id="rId9"/>
    <p:sldId id="273" r:id="rId10"/>
    <p:sldId id="262" r:id="rId11"/>
    <p:sldId id="263" r:id="rId12"/>
    <p:sldId id="264" r:id="rId13"/>
    <p:sldId id="265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267" r:id="rId27"/>
    <p:sldId id="268" r:id="rId28"/>
    <p:sldId id="269" r:id="rId29"/>
    <p:sldId id="286" r:id="rId30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2" roundtripDataSignature="AMtx7mi7nK151YdIZSeRnm+3JZk4hwiQ0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BAA2058-CFAD-4D82-B16E-EAAB58E32BB5}">
  <a:tblStyle styleId="{2BAA2058-CFAD-4D82-B16E-EAAB58E32BB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5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>
          <a:bottom>
            <a:ln w="254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9DE3040-2541-4870-98AA-78DD1AFBE656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192E428B-DE5C-B02A-57AD-95D209BBA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>
            <a:extLst>
              <a:ext uri="{FF2B5EF4-FFF2-40B4-BE49-F238E27FC236}">
                <a16:creationId xmlns:a16="http://schemas.microsoft.com/office/drawing/2014/main" id="{385C5415-7D2B-7087-8C7E-6341F9E8C6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6:notes">
            <a:extLst>
              <a:ext uri="{FF2B5EF4-FFF2-40B4-BE49-F238E27FC236}">
                <a16:creationId xmlns:a16="http://schemas.microsoft.com/office/drawing/2014/main" id="{AEF5136D-4901-F080-9D68-8D3DE0956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368218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B8C2EED0-F315-6D3B-62EB-1DE30683D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>
            <a:extLst>
              <a:ext uri="{FF2B5EF4-FFF2-40B4-BE49-F238E27FC236}">
                <a16:creationId xmlns:a16="http://schemas.microsoft.com/office/drawing/2014/main" id="{4A4BEC63-4B78-E7CC-F437-0EE6FC56BD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6:notes">
            <a:extLst>
              <a:ext uri="{FF2B5EF4-FFF2-40B4-BE49-F238E27FC236}">
                <a16:creationId xmlns:a16="http://schemas.microsoft.com/office/drawing/2014/main" id="{03FC4C8C-12ED-1FA3-698E-17F1FC0C6A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462315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262354F2-447C-80CD-3592-04A6DC261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>
            <a:extLst>
              <a:ext uri="{FF2B5EF4-FFF2-40B4-BE49-F238E27FC236}">
                <a16:creationId xmlns:a16="http://schemas.microsoft.com/office/drawing/2014/main" id="{4E0DE5DD-8D99-B058-658F-5F8CD72FC9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6:notes">
            <a:extLst>
              <a:ext uri="{FF2B5EF4-FFF2-40B4-BE49-F238E27FC236}">
                <a16:creationId xmlns:a16="http://schemas.microsoft.com/office/drawing/2014/main" id="{7D702031-2919-2146-CCCB-BA083E8AFD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796117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3B02B538-7E63-27DB-13F4-4EE5DC328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>
            <a:extLst>
              <a:ext uri="{FF2B5EF4-FFF2-40B4-BE49-F238E27FC236}">
                <a16:creationId xmlns:a16="http://schemas.microsoft.com/office/drawing/2014/main" id="{A7455175-16D3-0E96-2064-481256CB4C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6:notes">
            <a:extLst>
              <a:ext uri="{FF2B5EF4-FFF2-40B4-BE49-F238E27FC236}">
                <a16:creationId xmlns:a16="http://schemas.microsoft.com/office/drawing/2014/main" id="{81333B97-9D47-0E7F-4545-4657C6AEF1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470893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5" name="Google Shape;14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FB7EDD39-5F31-1530-BFEC-839BAF505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:notes">
            <a:extLst>
              <a:ext uri="{FF2B5EF4-FFF2-40B4-BE49-F238E27FC236}">
                <a16:creationId xmlns:a16="http://schemas.microsoft.com/office/drawing/2014/main" id="{BA2D4847-CAF2-6955-7F41-60DB78EE9B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5" name="Google Shape;145;p9:notes">
            <a:extLst>
              <a:ext uri="{FF2B5EF4-FFF2-40B4-BE49-F238E27FC236}">
                <a16:creationId xmlns:a16="http://schemas.microsoft.com/office/drawing/2014/main" id="{3FC47401-93DA-6A2A-47D4-102425EE5D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742777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E89BA876-4A75-B49E-D7BC-4A7B274DC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:notes">
            <a:extLst>
              <a:ext uri="{FF2B5EF4-FFF2-40B4-BE49-F238E27FC236}">
                <a16:creationId xmlns:a16="http://schemas.microsoft.com/office/drawing/2014/main" id="{FF82EF2C-259B-B9C8-D492-42F5400F21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5" name="Google Shape;145;p9:notes">
            <a:extLst>
              <a:ext uri="{FF2B5EF4-FFF2-40B4-BE49-F238E27FC236}">
                <a16:creationId xmlns:a16="http://schemas.microsoft.com/office/drawing/2014/main" id="{593E5AF4-0F1D-A95D-1C2E-7369B09AF5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512881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84C7AB28-59B6-1EB0-BEBA-D090EAF8F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:notes">
            <a:extLst>
              <a:ext uri="{FF2B5EF4-FFF2-40B4-BE49-F238E27FC236}">
                <a16:creationId xmlns:a16="http://schemas.microsoft.com/office/drawing/2014/main" id="{BB98C211-CD63-1048-1E66-674ADDFE0A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5" name="Google Shape;145;p9:notes">
            <a:extLst>
              <a:ext uri="{FF2B5EF4-FFF2-40B4-BE49-F238E27FC236}">
                <a16:creationId xmlns:a16="http://schemas.microsoft.com/office/drawing/2014/main" id="{694CD276-4A69-8B4E-2D8E-45134D09A2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426217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5B97DBC6-F4B9-BBE8-F4DE-287183080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:notes">
            <a:extLst>
              <a:ext uri="{FF2B5EF4-FFF2-40B4-BE49-F238E27FC236}">
                <a16:creationId xmlns:a16="http://schemas.microsoft.com/office/drawing/2014/main" id="{EC1D99C4-C556-A36C-2CD6-B2C97A791E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5" name="Google Shape;145;p9:notes">
            <a:extLst>
              <a:ext uri="{FF2B5EF4-FFF2-40B4-BE49-F238E27FC236}">
                <a16:creationId xmlns:a16="http://schemas.microsoft.com/office/drawing/2014/main" id="{DC67E325-DFFA-7CEF-21A0-5134D6CD71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3422432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97F17C86-CE01-B2FB-DD41-FE4E53939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:notes">
            <a:extLst>
              <a:ext uri="{FF2B5EF4-FFF2-40B4-BE49-F238E27FC236}">
                <a16:creationId xmlns:a16="http://schemas.microsoft.com/office/drawing/2014/main" id="{23D676F6-0836-9606-6DF9-C55F7070E2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5" name="Google Shape;145;p9:notes">
            <a:extLst>
              <a:ext uri="{FF2B5EF4-FFF2-40B4-BE49-F238E27FC236}">
                <a16:creationId xmlns:a16="http://schemas.microsoft.com/office/drawing/2014/main" id="{DC33B8BF-C280-A357-9B2C-7BB30EDD02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4156392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3EDBD611-1C59-6D35-A6FD-06959B4F1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:notes">
            <a:extLst>
              <a:ext uri="{FF2B5EF4-FFF2-40B4-BE49-F238E27FC236}">
                <a16:creationId xmlns:a16="http://schemas.microsoft.com/office/drawing/2014/main" id="{F1323E07-6BE3-8EA3-A4BF-4DF5FE972B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5" name="Google Shape;145;p9:notes">
            <a:extLst>
              <a:ext uri="{FF2B5EF4-FFF2-40B4-BE49-F238E27FC236}">
                <a16:creationId xmlns:a16="http://schemas.microsoft.com/office/drawing/2014/main" id="{0E5C3B35-D829-ADE6-341D-83F3C43737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2761208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B9AE2302-B251-6506-8B44-0364CF9A6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:notes">
            <a:extLst>
              <a:ext uri="{FF2B5EF4-FFF2-40B4-BE49-F238E27FC236}">
                <a16:creationId xmlns:a16="http://schemas.microsoft.com/office/drawing/2014/main" id="{3B03CAB1-0468-A3AE-3963-F0347D09C9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5" name="Google Shape;145;p9:notes">
            <a:extLst>
              <a:ext uri="{FF2B5EF4-FFF2-40B4-BE49-F238E27FC236}">
                <a16:creationId xmlns:a16="http://schemas.microsoft.com/office/drawing/2014/main" id="{1401A20F-22FD-3BB5-2BBC-A7B7DD0857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6438887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CF63433F-70B2-1B60-27EB-9DFF1B10E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:notes">
            <a:extLst>
              <a:ext uri="{FF2B5EF4-FFF2-40B4-BE49-F238E27FC236}">
                <a16:creationId xmlns:a16="http://schemas.microsoft.com/office/drawing/2014/main" id="{C4F9DA64-A8CF-D09F-063E-CC6F139EA0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5" name="Google Shape;145;p9:notes">
            <a:extLst>
              <a:ext uri="{FF2B5EF4-FFF2-40B4-BE49-F238E27FC236}">
                <a16:creationId xmlns:a16="http://schemas.microsoft.com/office/drawing/2014/main" id="{1D051622-F902-4114-1083-E295A60D93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040883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30610B5E-936D-BD3D-AB83-7A271F88B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:notes">
            <a:extLst>
              <a:ext uri="{FF2B5EF4-FFF2-40B4-BE49-F238E27FC236}">
                <a16:creationId xmlns:a16="http://schemas.microsoft.com/office/drawing/2014/main" id="{34CC4ABA-8EDB-40F7-9D5D-DD31EF6663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5" name="Google Shape;145;p9:notes">
            <a:extLst>
              <a:ext uri="{FF2B5EF4-FFF2-40B4-BE49-F238E27FC236}">
                <a16:creationId xmlns:a16="http://schemas.microsoft.com/office/drawing/2014/main" id="{C9F45EEA-AABF-72D8-13F1-6BEA8E3374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3335051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7C2AAB70-9683-352B-CC88-06054AF9C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:notes">
            <a:extLst>
              <a:ext uri="{FF2B5EF4-FFF2-40B4-BE49-F238E27FC236}">
                <a16:creationId xmlns:a16="http://schemas.microsoft.com/office/drawing/2014/main" id="{073ADC13-8A4D-FF03-A3DA-6BE0368B1E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5" name="Google Shape;145;p9:notes">
            <a:extLst>
              <a:ext uri="{FF2B5EF4-FFF2-40B4-BE49-F238E27FC236}">
                <a16:creationId xmlns:a16="http://schemas.microsoft.com/office/drawing/2014/main" id="{DBF41459-E636-952D-AB95-45502B5403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3450230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4C2024CC-E607-6DDD-BAFB-495F069E4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:notes">
            <a:extLst>
              <a:ext uri="{FF2B5EF4-FFF2-40B4-BE49-F238E27FC236}">
                <a16:creationId xmlns:a16="http://schemas.microsoft.com/office/drawing/2014/main" id="{DE328B9E-E714-5D2C-9A43-7758946B61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5" name="Google Shape;145;p9:notes">
            <a:extLst>
              <a:ext uri="{FF2B5EF4-FFF2-40B4-BE49-F238E27FC236}">
                <a16:creationId xmlns:a16="http://schemas.microsoft.com/office/drawing/2014/main" id="{7285381D-F147-F5A9-3ACD-BDA1F9499F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5724644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9D849BEF-CC2B-B031-BCD1-54D18892B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:notes">
            <a:extLst>
              <a:ext uri="{FF2B5EF4-FFF2-40B4-BE49-F238E27FC236}">
                <a16:creationId xmlns:a16="http://schemas.microsoft.com/office/drawing/2014/main" id="{3695F5EB-AF80-BDBD-923C-E1CB92EB61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5" name="Google Shape;145;p9:notes">
            <a:extLst>
              <a:ext uri="{FF2B5EF4-FFF2-40B4-BE49-F238E27FC236}">
                <a16:creationId xmlns:a16="http://schemas.microsoft.com/office/drawing/2014/main" id="{AD6F73B9-FC9A-A08A-E00D-378C37B31B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2200034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09949ADC-0889-8FF7-7C92-3AC85B587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5:notes">
            <a:extLst>
              <a:ext uri="{FF2B5EF4-FFF2-40B4-BE49-F238E27FC236}">
                <a16:creationId xmlns:a16="http://schemas.microsoft.com/office/drawing/2014/main" id="{80578A24-03A7-E56C-EFBC-7845FB6686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5:notes">
            <a:extLst>
              <a:ext uri="{FF2B5EF4-FFF2-40B4-BE49-F238E27FC236}">
                <a16:creationId xmlns:a16="http://schemas.microsoft.com/office/drawing/2014/main" id="{DAD84967-8781-0920-752A-4E361C7D7D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84997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8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0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21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2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2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22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2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5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5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5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6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6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6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7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8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8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2047600" y="469900"/>
            <a:ext cx="6563100" cy="13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SRM INSTITUTE OF SCIENCE AND TECHNOLOGY</a:t>
            </a:r>
            <a:b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Ramapuram , Chennai – 600 089</a:t>
            </a:r>
            <a:b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600" b="1"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</a:t>
            </a:r>
            <a:endParaRPr sz="1800"/>
          </a:p>
        </p:txBody>
      </p:sp>
      <p:sp>
        <p:nvSpPr>
          <p:cNvPr id="89" name="Google Shape;89;p1"/>
          <p:cNvSpPr txBox="1">
            <a:spLocks noGrp="1"/>
          </p:cNvSpPr>
          <p:nvPr>
            <p:ph type="subTitle" idx="1"/>
          </p:nvPr>
        </p:nvSpPr>
        <p:spPr>
          <a:xfrm>
            <a:off x="609600" y="1800225"/>
            <a:ext cx="8077200" cy="12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21CSC305P/ MACHINE LEARNING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Toxic Comment Blurring System 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 dirty="0">
              <a:solidFill>
                <a:schemeClr val="dk1"/>
              </a:solidFill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1633728" y="3276600"/>
            <a:ext cx="64008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BATCH </a:t>
            </a:r>
            <a:r>
              <a:rPr lang="en-US" sz="320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NUMBER :3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1" name="Google Shape;91;p1"/>
          <p:cNvGraphicFramePr/>
          <p:nvPr>
            <p:extLst>
              <p:ext uri="{D42A27DB-BD31-4B8C-83A1-F6EECF244321}">
                <p14:modId xmlns:p14="http://schemas.microsoft.com/office/powerpoint/2010/main" val="2550669367"/>
              </p:ext>
            </p:extLst>
          </p:nvPr>
        </p:nvGraphicFramePr>
        <p:xfrm>
          <a:off x="304800" y="4114800"/>
          <a:ext cx="8305800" cy="2133600"/>
        </p:xfrm>
        <a:graphic>
          <a:graphicData uri="http://schemas.openxmlformats.org/drawingml/2006/table">
            <a:tbl>
              <a:tblPr firstRow="1" bandRow="1">
                <a:noFill/>
                <a:tableStyleId>{2BAA2058-CFAD-4D82-B16E-EAAB58E32BB5}</a:tableStyleId>
              </a:tblPr>
              <a:tblGrid>
                <a:gridCol w="54956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01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3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Team Members 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Supervisor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49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dirty="0"/>
                        <a:t>VILASNI M [RA2311003020003]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dirty="0"/>
                        <a:t>MOHAMED SHAKEEL M S [RA2311003020012]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dirty="0"/>
                        <a:t>HARIHARAN S [RA2311003020012]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dirty="0"/>
                        <a:t>TAMIZHSELVAN A [RA23110003020022]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dirty="0"/>
                        <a:t>Dr. Adlene Ebenezer P,</a:t>
                      </a:r>
                      <a:endParaRPr sz="18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dirty="0"/>
                        <a:t>Assistant Professor,</a:t>
                      </a:r>
                      <a:endParaRPr sz="18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dirty="0"/>
                        <a:t>Dept. of CSE,</a:t>
                      </a:r>
                      <a:endParaRPr sz="18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dirty="0"/>
                        <a:t>SRM IST, </a:t>
                      </a:r>
                      <a:r>
                        <a:rPr lang="en-US" sz="1800" dirty="0" err="1"/>
                        <a:t>Ramapuram</a:t>
                      </a:r>
                      <a:endParaRPr sz="1800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2" name="Google Shape;92;p1"/>
          <p:cNvSpPr txBox="1">
            <a:spLocks noGrp="1"/>
          </p:cNvSpPr>
          <p:nvPr>
            <p:ph type="ftr" idx="11"/>
          </p:nvPr>
        </p:nvSpPr>
        <p:spPr>
          <a:xfrm>
            <a:off x="533400" y="6356351"/>
            <a:ext cx="80772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Date							Slide Number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3" name="Google Shape;93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177250"/>
            <a:ext cx="1742800" cy="162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ABSTRACT</a:t>
            </a:r>
            <a:endParaRPr dirty="0"/>
          </a:p>
        </p:txBody>
      </p:sp>
      <p:sp>
        <p:nvSpPr>
          <p:cNvPr id="107" name="Google Shape;107;p3"/>
          <p:cNvSpPr txBox="1">
            <a:spLocks noGrp="1"/>
          </p:cNvSpPr>
          <p:nvPr>
            <p:ph type="ftr" idx="11"/>
          </p:nvPr>
        </p:nvSpPr>
        <p:spPr>
          <a:xfrm>
            <a:off x="457200" y="6356351"/>
            <a:ext cx="8229600" cy="349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DEPARTMENT OF COMPUTER SCIENCE AND ENGINEERING 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B9E398-89CE-D050-2012-5C971A0E3A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85773" y="1702217"/>
            <a:ext cx="8572454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DistilBERT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detect and classify toxic</a:t>
            </a:r>
          </a:p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comments.</a:t>
            </a:r>
          </a:p>
          <a:p>
            <a:pPr marL="28575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Identified toxic comments are automatically blurred for user </a:t>
            </a:r>
          </a:p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protection.</a:t>
            </a:r>
          </a:p>
          <a:p>
            <a:pPr marL="28575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toggle button allows users to unblur and </a:t>
            </a:r>
          </a:p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view the comment if they wish.</a:t>
            </a:r>
          </a:p>
          <a:p>
            <a:pPr marL="28575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Built using Flask, Chrome Extension, and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Ngrok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real-time </a:t>
            </a:r>
          </a:p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operation.</a:t>
            </a:r>
          </a:p>
          <a:p>
            <a:pPr marL="28575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Promotes a safe online space while preserving freedom of </a:t>
            </a:r>
          </a:p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expression.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/>
          <p:cNvSpPr txBox="1">
            <a:spLocks noGrp="1"/>
          </p:cNvSpPr>
          <p:nvPr>
            <p:ph type="title"/>
          </p:nvPr>
        </p:nvSpPr>
        <p:spPr>
          <a:xfrm>
            <a:off x="457200" y="54865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Scope and Motivation</a:t>
            </a:r>
            <a:endParaRPr dirty="0"/>
          </a:p>
        </p:txBody>
      </p:sp>
      <p:sp>
        <p:nvSpPr>
          <p:cNvPr id="113" name="Google Shape;113;p4"/>
          <p:cNvSpPr txBox="1">
            <a:spLocks noGrp="1"/>
          </p:cNvSpPr>
          <p:nvPr>
            <p:ph type="body" idx="1"/>
          </p:nvPr>
        </p:nvSpPr>
        <p:spPr>
          <a:xfrm>
            <a:off x="115131" y="1197865"/>
            <a:ext cx="8913737" cy="2727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114300" indent="0" algn="just">
              <a:lnSpc>
                <a:spcPct val="150000"/>
              </a:lnSpc>
              <a:buNone/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Scope: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toxic comments on YouTube using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DistilBERT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Blurs harmful text with an Unblur toggle for user choice.</a:t>
            </a:r>
          </a:p>
          <a:p>
            <a:pPr algn="just">
              <a:lnSpc>
                <a:spcPct val="150000"/>
              </a:lnSpc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Flask, Chrome Extension, and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Ngrok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real-time working.</a:t>
            </a:r>
          </a:p>
          <a:p>
            <a:pPr algn="just">
              <a:lnSpc>
                <a:spcPct val="150000"/>
              </a:lnSpc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Focused on English comments, expandable to other platforms.</a:t>
            </a:r>
          </a:p>
          <a:p>
            <a:pPr algn="just">
              <a:lnSpc>
                <a:spcPct val="150000"/>
              </a:lnSpc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Promotes safe, user-controlled online interaction.</a:t>
            </a:r>
          </a:p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/>
          </a:p>
        </p:txBody>
      </p:sp>
      <p:sp>
        <p:nvSpPr>
          <p:cNvPr id="114" name="Google Shape;114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DEPARTMENT OF COMPUTER SCIENCE AND ENGINEERING </a:t>
            </a: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0A26B7-3945-38D6-0FD3-5BC8CFEDC916}"/>
              </a:ext>
            </a:extLst>
          </p:cNvPr>
          <p:cNvSpPr txBox="1"/>
          <p:nvPr/>
        </p:nvSpPr>
        <p:spPr>
          <a:xfrm>
            <a:off x="230907" y="4103347"/>
            <a:ext cx="6465455" cy="1704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Rise in toxic comments affecting user’s  mental health.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delete or misclassify comments.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a balanced solution that ensures safety and freedom</a:t>
            </a:r>
            <a:r>
              <a:rPr lang="en-US" dirty="0"/>
              <a:t>.</a:t>
            </a: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Introduction</a:t>
            </a:r>
            <a:endParaRPr/>
          </a:p>
        </p:txBody>
      </p:sp>
      <p:sp>
        <p:nvSpPr>
          <p:cNvPr id="120" name="Google Shape;120;p5"/>
          <p:cNvSpPr txBox="1">
            <a:spLocks noGrp="1"/>
          </p:cNvSpPr>
          <p:nvPr>
            <p:ph type="body" idx="1"/>
          </p:nvPr>
        </p:nvSpPr>
        <p:spPr>
          <a:xfrm>
            <a:off x="877825" y="1440585"/>
            <a:ext cx="7808976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Toxic Language Detection &amp; Content Filtering</a:t>
            </a:r>
          </a:p>
          <a:p>
            <a:pPr algn="just">
              <a:lnSpc>
                <a:spcPct val="150000"/>
              </a:lnSpc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platforms like YouTube, Instagram, and Twitter face rising toxic and abusive comments.</a:t>
            </a:r>
          </a:p>
          <a:p>
            <a:pPr algn="just">
              <a:lnSpc>
                <a:spcPct val="150000"/>
              </a:lnSpc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system automatically detects and blurs offensive content in real-time.</a:t>
            </a:r>
          </a:p>
          <a:p>
            <a:pPr algn="just">
              <a:lnSpc>
                <a:spcPct val="150000"/>
              </a:lnSpc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user safety while maintaining context, promoting a safer and inclusive online environment.</a:t>
            </a:r>
          </a:p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/>
          </a:p>
        </p:txBody>
      </p:sp>
      <p:sp>
        <p:nvSpPr>
          <p:cNvPr id="121" name="Google Shape;12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DEPARTMENT OF COMPUTER SCIENCE AND ENGINEERING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Literature Survey</a:t>
            </a:r>
            <a:endParaRPr dirty="0"/>
          </a:p>
        </p:txBody>
      </p:sp>
      <p:graphicFrame>
        <p:nvGraphicFramePr>
          <p:cNvPr id="127" name="Google Shape;127;p6"/>
          <p:cNvGraphicFramePr/>
          <p:nvPr>
            <p:extLst>
              <p:ext uri="{D42A27DB-BD31-4B8C-83A1-F6EECF244321}">
                <p14:modId xmlns:p14="http://schemas.microsoft.com/office/powerpoint/2010/main" val="1782732900"/>
              </p:ext>
            </p:extLst>
          </p:nvPr>
        </p:nvGraphicFramePr>
        <p:xfrm>
          <a:off x="457175" y="1188381"/>
          <a:ext cx="8229625" cy="4023380"/>
        </p:xfrm>
        <a:graphic>
          <a:graphicData uri="http://schemas.openxmlformats.org/drawingml/2006/table">
            <a:tbl>
              <a:tblPr firstRow="1" bandRow="1">
                <a:noFill/>
                <a:tableStyleId>{F9DE3040-2541-4870-98AA-78DD1AFBE656}</a:tableStyleId>
              </a:tblPr>
              <a:tblGrid>
                <a:gridCol w="7955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9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05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 err="1"/>
                        <a:t>S.No</a:t>
                      </a:r>
                      <a:r>
                        <a:rPr lang="en-US" sz="1800" dirty="0"/>
                        <a:t>.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Title of the Paper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Year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Methodology Used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Inferences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dirty="0"/>
                        <a:t>1 </a:t>
                      </a:r>
                      <a:endParaRPr sz="18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Hydrangea@DravidianLangTech2025: Abusive language Identification from Tamil and Malayalam Text using Transformer Models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2025</a:t>
                      </a:r>
                      <a:endParaRPr sz="18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Fine-tune transformer models (BERT, XLM-</a:t>
                      </a:r>
                      <a:r>
                        <a:rPr lang="en-IN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RoBERTa</a:t>
                      </a: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IN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DistilBERT</a:t>
                      </a: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on YouTube comments in Tamil &amp; Malayalam. 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XLM-</a:t>
                      </a: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RoBERTa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gave the best F1 in both languages. </a:t>
                      </a: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DistilBERT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worked well for Tamil but dropped significantly for Malayalam (low-resource setting). Shows that multilingual pre-training helps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8" name="Google Shape;128;p6"/>
          <p:cNvSpPr txBox="1">
            <a:spLocks noGrp="1"/>
          </p:cNvSpPr>
          <p:nvPr>
            <p:ph type="ftr" idx="11"/>
          </p:nvPr>
        </p:nvSpPr>
        <p:spPr>
          <a:xfrm>
            <a:off x="3124200" y="6400799"/>
            <a:ext cx="3962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DEPARTMENT OF COMPUTER SCIENCE AND ENGINEERING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>
          <a:extLst>
            <a:ext uri="{FF2B5EF4-FFF2-40B4-BE49-F238E27FC236}">
              <a16:creationId xmlns:a16="http://schemas.microsoft.com/office/drawing/2014/main" id="{15F451F2-23BA-608D-7794-3823AC95A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>
            <a:extLst>
              <a:ext uri="{FF2B5EF4-FFF2-40B4-BE49-F238E27FC236}">
                <a16:creationId xmlns:a16="http://schemas.microsoft.com/office/drawing/2014/main" id="{220C81E8-1D21-B73D-73B7-098AE3834D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-110836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Literature Survey</a:t>
            </a:r>
            <a:endParaRPr dirty="0"/>
          </a:p>
        </p:txBody>
      </p:sp>
      <p:graphicFrame>
        <p:nvGraphicFramePr>
          <p:cNvPr id="127" name="Google Shape;127;p6">
            <a:extLst>
              <a:ext uri="{FF2B5EF4-FFF2-40B4-BE49-F238E27FC236}">
                <a16:creationId xmlns:a16="http://schemas.microsoft.com/office/drawing/2014/main" id="{66077E0D-9B71-4B99-D7B3-382C46523BE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02612197"/>
              </p:ext>
            </p:extLst>
          </p:nvPr>
        </p:nvGraphicFramePr>
        <p:xfrm>
          <a:off x="457201" y="1032164"/>
          <a:ext cx="8067965" cy="4572020"/>
        </p:xfrm>
        <a:graphic>
          <a:graphicData uri="http://schemas.openxmlformats.org/drawingml/2006/table">
            <a:tbl>
              <a:tblPr firstRow="1" bandRow="1">
                <a:noFill/>
                <a:tableStyleId>{F9DE3040-2541-4870-98AA-78DD1AFBE656}</a:tableStyleId>
              </a:tblPr>
              <a:tblGrid>
                <a:gridCol w="932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2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10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718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478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 err="1"/>
                        <a:t>S.No</a:t>
                      </a:r>
                      <a:r>
                        <a:rPr lang="en-US" sz="1800" dirty="0"/>
                        <a:t>.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Title of the Paper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Year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Methodology Used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Inferences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2211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dirty="0"/>
                        <a:t>2</a:t>
                      </a:r>
                      <a:endParaRPr sz="18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Text-to-Text Model for Multilingual Offensive Language Identification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2023</a:t>
                      </a:r>
                      <a:endParaRPr sz="18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 text-to-text transformer models (T5, mT5) trained on multiple offensive language datasets (SOLID, CCTK), combining datasets for multilingual offensive/hate/offensive content detection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T5-based models outperform many encoder-only transformers. The multilingual version (mT5) performs very well across several languages, showing that multilingual models generalize better.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8" name="Google Shape;128;p6">
            <a:extLst>
              <a:ext uri="{FF2B5EF4-FFF2-40B4-BE49-F238E27FC236}">
                <a16:creationId xmlns:a16="http://schemas.microsoft.com/office/drawing/2014/main" id="{0A51FEA0-DC1D-07EA-60C2-5F3E9D950380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124200" y="6400799"/>
            <a:ext cx="3962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DEPARTMENT OF COMPUTER SCIENCE AND ENGINEERING 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635348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>
          <a:extLst>
            <a:ext uri="{FF2B5EF4-FFF2-40B4-BE49-F238E27FC236}">
              <a16:creationId xmlns:a16="http://schemas.microsoft.com/office/drawing/2014/main" id="{E3C0F4B7-760E-3B8F-23C0-BCCEC7B2C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>
            <a:extLst>
              <a:ext uri="{FF2B5EF4-FFF2-40B4-BE49-F238E27FC236}">
                <a16:creationId xmlns:a16="http://schemas.microsoft.com/office/drawing/2014/main" id="{E6DEFC38-94E2-AEBD-9194-A2503D003E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-110836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Literature Survey</a:t>
            </a:r>
            <a:endParaRPr dirty="0"/>
          </a:p>
        </p:txBody>
      </p:sp>
      <p:graphicFrame>
        <p:nvGraphicFramePr>
          <p:cNvPr id="127" name="Google Shape;127;p6">
            <a:extLst>
              <a:ext uri="{FF2B5EF4-FFF2-40B4-BE49-F238E27FC236}">
                <a16:creationId xmlns:a16="http://schemas.microsoft.com/office/drawing/2014/main" id="{6AC53F3D-3E58-7988-2E7C-DC02598439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5684638"/>
              </p:ext>
            </p:extLst>
          </p:nvPr>
        </p:nvGraphicFramePr>
        <p:xfrm>
          <a:off x="618835" y="744672"/>
          <a:ext cx="8067965" cy="4394939"/>
        </p:xfrm>
        <a:graphic>
          <a:graphicData uri="http://schemas.openxmlformats.org/drawingml/2006/table">
            <a:tbl>
              <a:tblPr firstRow="1" bandRow="1">
                <a:noFill/>
                <a:tableStyleId>{F9DE3040-2541-4870-98AA-78DD1AFBE656}</a:tableStyleId>
              </a:tblPr>
              <a:tblGrid>
                <a:gridCol w="6979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9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3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369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13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 err="1"/>
                        <a:t>S.No</a:t>
                      </a:r>
                      <a:r>
                        <a:rPr lang="en-US" sz="1800" dirty="0"/>
                        <a:t>.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Title of the Paper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Year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Methodology Used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Inferences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4849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dirty="0"/>
                        <a:t>3</a:t>
                      </a:r>
                      <a:endParaRPr sz="18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BanglaHateBERT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BERT for Abusive Language Detection in Bengali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2022</a:t>
                      </a:r>
                      <a:endParaRPr sz="18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Retrain (fine tune) a BERT variant for Bengali using a large corpus of Bengali hateful/abusive posts, balanced hate-speech annotations, etc. Comparison vs generic BERT</a:t>
                      </a:r>
                      <a:r>
                        <a:rPr lang="en-IN" sz="1800" dirty="0"/>
                        <a:t>. 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BanglaHateBERT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outperforms generic pre-trained BERT in Bengali abusive detection tasks. Important example of how retraining on language-specific abusive content improves performance in non-English or low-resource settings.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8" name="Google Shape;128;p6">
            <a:extLst>
              <a:ext uri="{FF2B5EF4-FFF2-40B4-BE49-F238E27FC236}">
                <a16:creationId xmlns:a16="http://schemas.microsoft.com/office/drawing/2014/main" id="{20020424-9D55-CE70-4462-1A3FF55B3EF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124200" y="6400799"/>
            <a:ext cx="3962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DEPARTMENT OF COMPUTER SCIENCE AND ENGINEERING 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736195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>
          <a:extLst>
            <a:ext uri="{FF2B5EF4-FFF2-40B4-BE49-F238E27FC236}">
              <a16:creationId xmlns:a16="http://schemas.microsoft.com/office/drawing/2014/main" id="{3A6FAAF2-EEB2-B86A-1B40-DD48B4D09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>
            <a:extLst>
              <a:ext uri="{FF2B5EF4-FFF2-40B4-BE49-F238E27FC236}">
                <a16:creationId xmlns:a16="http://schemas.microsoft.com/office/drawing/2014/main" id="{37773A23-08B6-F948-D3BF-6964BA4D245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-110836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Literature Survey</a:t>
            </a:r>
            <a:endParaRPr dirty="0"/>
          </a:p>
        </p:txBody>
      </p:sp>
      <p:graphicFrame>
        <p:nvGraphicFramePr>
          <p:cNvPr id="127" name="Google Shape;127;p6">
            <a:extLst>
              <a:ext uri="{FF2B5EF4-FFF2-40B4-BE49-F238E27FC236}">
                <a16:creationId xmlns:a16="http://schemas.microsoft.com/office/drawing/2014/main" id="{CCE84F57-4895-F1D1-32D5-F29A374C4E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12436030"/>
              </p:ext>
            </p:extLst>
          </p:nvPr>
        </p:nvGraphicFramePr>
        <p:xfrm>
          <a:off x="618835" y="744672"/>
          <a:ext cx="7830221" cy="4572020"/>
        </p:xfrm>
        <a:graphic>
          <a:graphicData uri="http://schemas.openxmlformats.org/drawingml/2006/table">
            <a:tbl>
              <a:tblPr firstRow="1" bandRow="1">
                <a:noFill/>
                <a:tableStyleId>{F9DE3040-2541-4870-98AA-78DD1AFBE656}</a:tableStyleId>
              </a:tblPr>
              <a:tblGrid>
                <a:gridCol w="6464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88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96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050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417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 err="1"/>
                        <a:t>S.No</a:t>
                      </a:r>
                      <a:r>
                        <a:rPr lang="en-US" sz="1800" dirty="0"/>
                        <a:t>.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Title of the Paper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Year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Methodology Used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Inferences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3792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dirty="0"/>
                        <a:t>4</a:t>
                      </a:r>
                      <a:endParaRPr sz="18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Efficient Toxic Content Detection by Bootstrapping and Distilling Large Language Models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2023</a:t>
                      </a:r>
                      <a:endParaRPr sz="18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Bootstraps large language models (LLMs) and distills them into smaller student models; uses a prompting method called </a:t>
                      </a:r>
                      <a:r>
                        <a:rPr lang="en-US" sz="18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Decision-Tree-of-Thought (</a:t>
                      </a:r>
                      <a:r>
                        <a:rPr lang="en-US" sz="180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DToT</a:t>
                      </a:r>
                      <a:r>
                        <a:rPr lang="en-US" sz="18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fine-tunes student models with rationales extracted from LLMs.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distilled student models are much smaller and faster but still maintain strong accuracy and cross-dataset performance. Good example for how to make a lightweight model for toxicity detection. 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8" name="Google Shape;128;p6">
            <a:extLst>
              <a:ext uri="{FF2B5EF4-FFF2-40B4-BE49-F238E27FC236}">
                <a16:creationId xmlns:a16="http://schemas.microsoft.com/office/drawing/2014/main" id="{4AE180A9-E2FE-0C9C-2D66-FB4B9BBDAD22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124200" y="6400799"/>
            <a:ext cx="3962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DEPARTMENT OF COMPUTER SCIENCE AND ENGINEERING 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905215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>
          <a:extLst>
            <a:ext uri="{FF2B5EF4-FFF2-40B4-BE49-F238E27FC236}">
              <a16:creationId xmlns:a16="http://schemas.microsoft.com/office/drawing/2014/main" id="{FA03AABD-FD8E-67F0-93A0-667F8B180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>
            <a:extLst>
              <a:ext uri="{FF2B5EF4-FFF2-40B4-BE49-F238E27FC236}">
                <a16:creationId xmlns:a16="http://schemas.microsoft.com/office/drawing/2014/main" id="{318BB9BD-F9ED-4F9F-D717-21B2D8A041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-110836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Literature Survey</a:t>
            </a:r>
            <a:endParaRPr dirty="0"/>
          </a:p>
        </p:txBody>
      </p:sp>
      <p:graphicFrame>
        <p:nvGraphicFramePr>
          <p:cNvPr id="127" name="Google Shape;127;p6">
            <a:extLst>
              <a:ext uri="{FF2B5EF4-FFF2-40B4-BE49-F238E27FC236}">
                <a16:creationId xmlns:a16="http://schemas.microsoft.com/office/drawing/2014/main" id="{BA2EBEB2-FCA5-7BFB-9ABC-56462FA678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6939076"/>
              </p:ext>
            </p:extLst>
          </p:nvPr>
        </p:nvGraphicFramePr>
        <p:xfrm>
          <a:off x="618835" y="744672"/>
          <a:ext cx="8067965" cy="4023380"/>
        </p:xfrm>
        <a:graphic>
          <a:graphicData uri="http://schemas.openxmlformats.org/drawingml/2006/table">
            <a:tbl>
              <a:tblPr firstRow="1" bandRow="1">
                <a:noFill/>
                <a:tableStyleId>{F9DE3040-2541-4870-98AA-78DD1AFBE656}</a:tableStyleId>
              </a:tblPr>
              <a:tblGrid>
                <a:gridCol w="478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2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22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237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24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 err="1"/>
                        <a:t>S.No</a:t>
                      </a:r>
                      <a:r>
                        <a:rPr lang="en-US" sz="1800" dirty="0"/>
                        <a:t>.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Title of the Paper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Year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Methodology Used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Inferences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1291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dirty="0"/>
                        <a:t>5</a:t>
                      </a:r>
                      <a:endParaRPr sz="18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CNLP-NITS-PP at GenAI Detection Task 3: Cross-Domain Machine-Generated Text Detection Using </a:t>
                      </a: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DistilBERT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Techniques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2025</a:t>
                      </a:r>
                      <a:endParaRPr sz="18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Fine-tuned </a:t>
                      </a: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DistilBERT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for the task of detecting machine-generated text; addresses adversarial strategies (paraphrasing, misspellings, etc.) with cross-domain data training. 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Shows </a:t>
                      </a: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DistilBERT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is capable of performing well even when text is adversarial or from different domains. Useful for your project if comments also come from diverse sources.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8" name="Google Shape;128;p6">
            <a:extLst>
              <a:ext uri="{FF2B5EF4-FFF2-40B4-BE49-F238E27FC236}">
                <a16:creationId xmlns:a16="http://schemas.microsoft.com/office/drawing/2014/main" id="{AE02B050-3A9B-5F37-9E1A-228FC47CAA0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124200" y="6400799"/>
            <a:ext cx="3962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DEPARTMENT OF COMPUTER SCIENCE AND ENGINEERING 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108881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Objective</a:t>
            </a:r>
            <a:endParaRPr/>
          </a:p>
        </p:txBody>
      </p:sp>
      <p:sp>
        <p:nvSpPr>
          <p:cNvPr id="134" name="Google Shape;134;p7"/>
          <p:cNvSpPr txBox="1">
            <a:spLocks noGrp="1"/>
          </p:cNvSpPr>
          <p:nvPr>
            <p:ph type="body" idx="1"/>
          </p:nvPr>
        </p:nvSpPr>
        <p:spPr>
          <a:xfrm>
            <a:off x="457200" y="1158875"/>
            <a:ext cx="8548256" cy="3970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 toxic and abusive comments automatically in online platforms.</a:t>
            </a:r>
          </a:p>
          <a:p>
            <a:pPr marL="0" lvl="0" indent="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Blur or hide offensive content to improve user experience and digital safety.</a:t>
            </a:r>
          </a:p>
          <a:p>
            <a:pPr marL="0" lvl="0" indent="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 a real-time, privacy-preserving solution without sending user data to external servers.</a:t>
            </a:r>
          </a:p>
          <a:p>
            <a:pPr marL="0" lvl="0" indent="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a lightweight, efficient system that can be integrated with any website or social media platform.</a:t>
            </a:r>
          </a:p>
          <a:p>
            <a:pPr marL="342900" lvl="0" indent="-215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" name="Google Shape;135;p7"/>
          <p:cNvSpPr txBox="1">
            <a:spLocks noGrp="1"/>
          </p:cNvSpPr>
          <p:nvPr>
            <p:ph type="ftr" idx="11"/>
          </p:nvPr>
        </p:nvSpPr>
        <p:spPr>
          <a:xfrm>
            <a:off x="381000" y="6356351"/>
            <a:ext cx="8305800" cy="273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DEPARTMENT OF COMPUTER SCIENCE AND ENGINEERING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Problem Statement</a:t>
            </a:r>
            <a:endParaRPr/>
          </a:p>
        </p:txBody>
      </p:sp>
      <p:sp>
        <p:nvSpPr>
          <p:cNvPr id="141" name="Google Shape;141;p8"/>
          <p:cNvSpPr txBox="1">
            <a:spLocks noGrp="1"/>
          </p:cNvSpPr>
          <p:nvPr>
            <p:ph type="body" idx="1"/>
          </p:nvPr>
        </p:nvSpPr>
        <p:spPr>
          <a:xfrm>
            <a:off x="388527" y="1373188"/>
            <a:ext cx="8366945" cy="5165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platforms face a rise in toxic and abusive comments.</a:t>
            </a:r>
          </a:p>
          <a:p>
            <a:pPr>
              <a:lnSpc>
                <a:spcPct val="150000"/>
              </a:lnSpc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 content causes emotional harm and discourages user participation.</a:t>
            </a:r>
          </a:p>
          <a:p>
            <a:pPr>
              <a:lnSpc>
                <a:spcPct val="150000"/>
              </a:lnSpc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moderation is slow, costly, and mentally exhausting.</a:t>
            </a:r>
          </a:p>
          <a:p>
            <a:pPr>
              <a:lnSpc>
                <a:spcPct val="150000"/>
              </a:lnSpc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Keyword filters fail to understand context or sarcasm.</a:t>
            </a:r>
          </a:p>
          <a:p>
            <a:pPr>
              <a:lnSpc>
                <a:spcPct val="150000"/>
              </a:lnSpc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often over-censor or miss subtle toxicity.</a:t>
            </a:r>
          </a:p>
          <a:p>
            <a:pPr>
              <a:lnSpc>
                <a:spcPct val="150000"/>
              </a:lnSpc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an intelligent, real-time, and user-friendly moderation solution.</a:t>
            </a:r>
          </a:p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/>
          </a:p>
        </p:txBody>
      </p:sp>
      <p:sp>
        <p:nvSpPr>
          <p:cNvPr id="142" name="Google Shape;14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DEPARTMENT OF COMPUTER SCIENCE AND ENGINEERING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Proposed Work</a:t>
            </a:r>
            <a:endParaRPr/>
          </a:p>
        </p:txBody>
      </p:sp>
      <p:sp>
        <p:nvSpPr>
          <p:cNvPr id="148" name="Google Shape;148;p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Toxic Comment Blurring System using </a:t>
            </a:r>
            <a:r>
              <a:rPr lang="en-US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DistilBERT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detection.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YouTube comments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 a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Chrome Extension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 comments to a Flask backend via </a:t>
            </a:r>
            <a:r>
              <a:rPr lang="en-US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Ngrok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analysis.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 text and classify comments as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toxic or non-toxic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Blur toxic comments automatically in the browser interface.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an “Unblur” toggle button for user-controlled visibility.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real-time processing, user safety, and freedom of choice.</a:t>
            </a:r>
          </a:p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/>
          </a:p>
        </p:txBody>
      </p:sp>
      <p:sp>
        <p:nvSpPr>
          <p:cNvPr id="149" name="Google Shape;14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DEPARTMENT OF COMPUTER SCIENCE AND ENGINEERING 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Architecture Diagram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1130817-626F-144B-E1C7-F4BF430EA3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839" y="1855180"/>
            <a:ext cx="7459157" cy="3815948"/>
          </a:xfrm>
          <a:prstGeom prst="rect">
            <a:avLst/>
          </a:prstGeom>
        </p:spPr>
      </p:pic>
      <p:sp>
        <p:nvSpPr>
          <p:cNvPr id="156" name="Google Shape;156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DEPARTMENT OF COMPUTER SCIENCE AND ENGINEERING 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>
          <a:extLst>
            <a:ext uri="{FF2B5EF4-FFF2-40B4-BE49-F238E27FC236}">
              <a16:creationId xmlns:a16="http://schemas.microsoft.com/office/drawing/2014/main" id="{FBA9771D-020C-8E21-1A54-7A63EE34F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">
            <a:extLst>
              <a:ext uri="{FF2B5EF4-FFF2-40B4-BE49-F238E27FC236}">
                <a16:creationId xmlns:a16="http://schemas.microsoft.com/office/drawing/2014/main" id="{94FB0C0D-1591-3013-A8D5-20D361B5C1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Module Description</a:t>
            </a:r>
            <a:endParaRPr dirty="0"/>
          </a:p>
        </p:txBody>
      </p:sp>
      <p:sp>
        <p:nvSpPr>
          <p:cNvPr id="148" name="Google Shape;148;p9">
            <a:extLst>
              <a:ext uri="{FF2B5EF4-FFF2-40B4-BE49-F238E27FC236}">
                <a16:creationId xmlns:a16="http://schemas.microsoft.com/office/drawing/2014/main" id="{F287CAA2-7BE7-43FE-708D-372FA6DC06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7936992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Data Collection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Description:</a:t>
            </a:r>
            <a:endParaRPr 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Gather text data containing toxic, abusive, or offensive comments from publicly available datasets.</a:t>
            </a:r>
          </a:p>
          <a:p>
            <a:pPr algn="just">
              <a:lnSpc>
                <a:spcPct val="150000"/>
              </a:lnSpc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training and testing data in CSV format for the model.</a:t>
            </a:r>
          </a:p>
          <a:p>
            <a:pPr algn="just">
              <a:lnSpc>
                <a:spcPct val="150000"/>
              </a:lnSpc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data is cleaned, labeled, and representative of different types of abusive language.</a:t>
            </a:r>
          </a:p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/>
          </a:p>
        </p:txBody>
      </p:sp>
      <p:sp>
        <p:nvSpPr>
          <p:cNvPr id="149" name="Google Shape;149;p9">
            <a:extLst>
              <a:ext uri="{FF2B5EF4-FFF2-40B4-BE49-F238E27FC236}">
                <a16:creationId xmlns:a16="http://schemas.microsoft.com/office/drawing/2014/main" id="{A7C532D2-1EC8-2A27-E59F-6AE2CF08603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DEPARTMENT OF COMPUTER SCIENCE AND ENGINEERING 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015005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>
          <a:extLst>
            <a:ext uri="{FF2B5EF4-FFF2-40B4-BE49-F238E27FC236}">
              <a16:creationId xmlns:a16="http://schemas.microsoft.com/office/drawing/2014/main" id="{1CCC3271-A41D-1860-DEB5-547379C84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">
            <a:extLst>
              <a:ext uri="{FF2B5EF4-FFF2-40B4-BE49-F238E27FC236}">
                <a16:creationId xmlns:a16="http://schemas.microsoft.com/office/drawing/2014/main" id="{A1215D97-672D-F39F-1448-AD047033C6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Module Description</a:t>
            </a:r>
            <a:endParaRPr dirty="0"/>
          </a:p>
        </p:txBody>
      </p:sp>
      <p:sp>
        <p:nvSpPr>
          <p:cNvPr id="148" name="Google Shape;148;p9">
            <a:extLst>
              <a:ext uri="{FF2B5EF4-FFF2-40B4-BE49-F238E27FC236}">
                <a16:creationId xmlns:a16="http://schemas.microsoft.com/office/drawing/2014/main" id="{2ECFBAFE-1E61-F162-76FE-D297EF071F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790956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Model Training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a machine learning model using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DistilBERT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toxic comment detection.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tokenization and self-attention mechanisms to understand the context and meaning of text.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the model for high accuracy, precision, and recall on detecting abusive comments.</a:t>
            </a:r>
          </a:p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/>
          </a:p>
        </p:txBody>
      </p:sp>
      <p:sp>
        <p:nvSpPr>
          <p:cNvPr id="149" name="Google Shape;149;p9">
            <a:extLst>
              <a:ext uri="{FF2B5EF4-FFF2-40B4-BE49-F238E27FC236}">
                <a16:creationId xmlns:a16="http://schemas.microsoft.com/office/drawing/2014/main" id="{22876EED-B72D-39D8-82A2-A11326C7B17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DEPARTMENT OF COMPUTER SCIENCE AND ENGINEERING 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577423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>
          <a:extLst>
            <a:ext uri="{FF2B5EF4-FFF2-40B4-BE49-F238E27FC236}">
              <a16:creationId xmlns:a16="http://schemas.microsoft.com/office/drawing/2014/main" id="{D597E080-167D-841B-87E0-13F724E66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">
            <a:extLst>
              <a:ext uri="{FF2B5EF4-FFF2-40B4-BE49-F238E27FC236}">
                <a16:creationId xmlns:a16="http://schemas.microsoft.com/office/drawing/2014/main" id="{65273F54-BE49-EFD4-FF76-29A69B6205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Module Description</a:t>
            </a:r>
            <a:endParaRPr dirty="0"/>
          </a:p>
        </p:txBody>
      </p:sp>
      <p:sp>
        <p:nvSpPr>
          <p:cNvPr id="148" name="Google Shape;148;p9">
            <a:extLst>
              <a:ext uri="{FF2B5EF4-FFF2-40B4-BE49-F238E27FC236}">
                <a16:creationId xmlns:a16="http://schemas.microsoft.com/office/drawing/2014/main" id="{46547302-9BF8-5F4E-1579-CA915AA0DF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7882128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Backend API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Flask API to serve the trained model.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 text input from front-end or extension and return predictions in real-time.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local processing to maintain privacy and efficiency.</a:t>
            </a:r>
          </a:p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/>
          </a:p>
        </p:txBody>
      </p:sp>
      <p:sp>
        <p:nvSpPr>
          <p:cNvPr id="149" name="Google Shape;149;p9">
            <a:extLst>
              <a:ext uri="{FF2B5EF4-FFF2-40B4-BE49-F238E27FC236}">
                <a16:creationId xmlns:a16="http://schemas.microsoft.com/office/drawing/2014/main" id="{97C2C4F5-1EE8-BE8C-3995-E1AA67EFC80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DEPARTMENT OF COMPUTER SCIENCE AND ENGINEERING 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758849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>
          <a:extLst>
            <a:ext uri="{FF2B5EF4-FFF2-40B4-BE49-F238E27FC236}">
              <a16:creationId xmlns:a16="http://schemas.microsoft.com/office/drawing/2014/main" id="{84170239-8FBC-CEB7-8C25-4374BA2C3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">
            <a:extLst>
              <a:ext uri="{FF2B5EF4-FFF2-40B4-BE49-F238E27FC236}">
                <a16:creationId xmlns:a16="http://schemas.microsoft.com/office/drawing/2014/main" id="{FA2E6B51-7ACF-204C-6CFA-9AB272FF4F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Module Description</a:t>
            </a:r>
            <a:endParaRPr dirty="0"/>
          </a:p>
        </p:txBody>
      </p:sp>
      <p:sp>
        <p:nvSpPr>
          <p:cNvPr id="148" name="Google Shape;148;p9">
            <a:extLst>
              <a:ext uri="{FF2B5EF4-FFF2-40B4-BE49-F238E27FC236}">
                <a16:creationId xmlns:a16="http://schemas.microsoft.com/office/drawing/2014/main" id="{79CD2EFE-CBC2-59F9-F065-204E0DABE3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Browser Extension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Chrome/Edge extension to integrate the detection system with websites.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scan comments on a page and blur abusive content.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 toggle button to unblur content if needed.</a:t>
            </a:r>
          </a:p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/>
          </a:p>
        </p:txBody>
      </p:sp>
      <p:sp>
        <p:nvSpPr>
          <p:cNvPr id="149" name="Google Shape;149;p9">
            <a:extLst>
              <a:ext uri="{FF2B5EF4-FFF2-40B4-BE49-F238E27FC236}">
                <a16:creationId xmlns:a16="http://schemas.microsoft.com/office/drawing/2014/main" id="{37A49E42-210E-36CE-DF55-5FEB87A25120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DEPARTMENT OF COMPUTER SCIENCE AND ENGINEERING 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198322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>
          <a:extLst>
            <a:ext uri="{FF2B5EF4-FFF2-40B4-BE49-F238E27FC236}">
              <a16:creationId xmlns:a16="http://schemas.microsoft.com/office/drawing/2014/main" id="{7D5235CB-1896-80B4-1992-4BA56353C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">
            <a:extLst>
              <a:ext uri="{FF2B5EF4-FFF2-40B4-BE49-F238E27FC236}">
                <a16:creationId xmlns:a16="http://schemas.microsoft.com/office/drawing/2014/main" id="{91C061B7-E74D-B678-089E-7DD13D2A80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Module Description</a:t>
            </a:r>
            <a:endParaRPr dirty="0"/>
          </a:p>
        </p:txBody>
      </p:sp>
      <p:sp>
        <p:nvSpPr>
          <p:cNvPr id="148" name="Google Shape;148;p9">
            <a:extLst>
              <a:ext uri="{FF2B5EF4-FFF2-40B4-BE49-F238E27FC236}">
                <a16:creationId xmlns:a16="http://schemas.microsoft.com/office/drawing/2014/main" id="{7A6FD9A7-FBF5-71EE-D94C-41C728C2E7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7699248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5: Real-time Comment Filtering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 the trained model, backend API, and extension for live usage.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the system works seamlessly on platforms like YouTube or Instagram.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users with a safer browsing experience without disrupting normal interaction</a:t>
            </a:r>
            <a:endParaRPr dirty="0"/>
          </a:p>
        </p:txBody>
      </p:sp>
      <p:sp>
        <p:nvSpPr>
          <p:cNvPr id="149" name="Google Shape;149;p9">
            <a:extLst>
              <a:ext uri="{FF2B5EF4-FFF2-40B4-BE49-F238E27FC236}">
                <a16:creationId xmlns:a16="http://schemas.microsoft.com/office/drawing/2014/main" id="{B5B79D6C-5A73-86F9-2B49-F95C090B266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DEPARTMENT OF COMPUTER SCIENCE AND ENGINEERING 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334321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>
          <a:extLst>
            <a:ext uri="{FF2B5EF4-FFF2-40B4-BE49-F238E27FC236}">
              <a16:creationId xmlns:a16="http://schemas.microsoft.com/office/drawing/2014/main" id="{32B81D1D-F944-AD18-9AC7-B9DE7E822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">
            <a:extLst>
              <a:ext uri="{FF2B5EF4-FFF2-40B4-BE49-F238E27FC236}">
                <a16:creationId xmlns:a16="http://schemas.microsoft.com/office/drawing/2014/main" id="{DAB9F0CB-1F38-89F9-286F-BB906A8AC8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1052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dirty="0"/>
              <a:t>Implementation</a:t>
            </a:r>
            <a:endParaRPr dirty="0"/>
          </a:p>
        </p:txBody>
      </p:sp>
      <p:sp>
        <p:nvSpPr>
          <p:cNvPr id="149" name="Google Shape;149;p9">
            <a:extLst>
              <a:ext uri="{FF2B5EF4-FFF2-40B4-BE49-F238E27FC236}">
                <a16:creationId xmlns:a16="http://schemas.microsoft.com/office/drawing/2014/main" id="{EBDF2D48-B379-AB4C-C265-5F586791341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DEPARTMENT OF COMPUTER SCIENCE AND ENGINEERING </a:t>
            </a:r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1186BB-88FD-F209-18E6-6B450CCAF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092" y="1195276"/>
            <a:ext cx="3789218" cy="48726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A8EE99F-286C-FA52-FEE2-DC0D52D587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1090" y="1166043"/>
            <a:ext cx="3643022" cy="496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365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>
          <a:extLst>
            <a:ext uri="{FF2B5EF4-FFF2-40B4-BE49-F238E27FC236}">
              <a16:creationId xmlns:a16="http://schemas.microsoft.com/office/drawing/2014/main" id="{1242D3D4-B5AA-64BA-42BA-43CC1AB18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">
            <a:extLst>
              <a:ext uri="{FF2B5EF4-FFF2-40B4-BE49-F238E27FC236}">
                <a16:creationId xmlns:a16="http://schemas.microsoft.com/office/drawing/2014/main" id="{7E5A019F-BCB3-4716-0FEF-9B753BFBAF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1052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dirty="0"/>
              <a:t>Implementation</a:t>
            </a:r>
            <a:endParaRPr dirty="0"/>
          </a:p>
        </p:txBody>
      </p:sp>
      <p:sp>
        <p:nvSpPr>
          <p:cNvPr id="149" name="Google Shape;149;p9">
            <a:extLst>
              <a:ext uri="{FF2B5EF4-FFF2-40B4-BE49-F238E27FC236}">
                <a16:creationId xmlns:a16="http://schemas.microsoft.com/office/drawing/2014/main" id="{CC5A9E5D-2B20-D6B4-03EA-6B37117AE52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DEPARTMENT OF COMPUTER SCIENCE AND ENGINEERING 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95037D-72A9-1B65-D3F0-82347D77B5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454" y="1131480"/>
            <a:ext cx="3821546" cy="50407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E6ECED2-F373-21A4-7D77-B7ADD0CF4F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6109" y="1131479"/>
            <a:ext cx="3434312" cy="5040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1396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>
          <a:extLst>
            <a:ext uri="{FF2B5EF4-FFF2-40B4-BE49-F238E27FC236}">
              <a16:creationId xmlns:a16="http://schemas.microsoft.com/office/drawing/2014/main" id="{40061046-8CB4-83A6-CF24-809F04AEF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">
            <a:extLst>
              <a:ext uri="{FF2B5EF4-FFF2-40B4-BE49-F238E27FC236}">
                <a16:creationId xmlns:a16="http://schemas.microsoft.com/office/drawing/2014/main" id="{B859E313-8A8E-11A1-0712-2637F7FEE3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1052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dirty="0"/>
              <a:t>Implementation</a:t>
            </a:r>
            <a:endParaRPr dirty="0"/>
          </a:p>
        </p:txBody>
      </p:sp>
      <p:sp>
        <p:nvSpPr>
          <p:cNvPr id="149" name="Google Shape;149;p9">
            <a:extLst>
              <a:ext uri="{FF2B5EF4-FFF2-40B4-BE49-F238E27FC236}">
                <a16:creationId xmlns:a16="http://schemas.microsoft.com/office/drawing/2014/main" id="{71AA2211-5287-F7B9-5B2C-5885EADCEEC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DEPARTMENT OF COMPUTER SCIENCE AND ENGINEERING </a:t>
            </a:r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D53BA7-4BFC-9CA5-71BC-114F3BAFFF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31478"/>
            <a:ext cx="4495800" cy="50407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1F2B2FD-152C-CE26-DE26-F6ED7D442F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6347" y="1131478"/>
            <a:ext cx="3864402" cy="5040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5712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>
          <a:extLst>
            <a:ext uri="{FF2B5EF4-FFF2-40B4-BE49-F238E27FC236}">
              <a16:creationId xmlns:a16="http://schemas.microsoft.com/office/drawing/2014/main" id="{92A7A20B-781B-0014-A4FD-10F73D0FE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">
            <a:extLst>
              <a:ext uri="{FF2B5EF4-FFF2-40B4-BE49-F238E27FC236}">
                <a16:creationId xmlns:a16="http://schemas.microsoft.com/office/drawing/2014/main" id="{26FE18FD-0786-5E07-8A1B-A19F0B737C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1052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dirty="0"/>
              <a:t>Implementation</a:t>
            </a:r>
            <a:endParaRPr dirty="0"/>
          </a:p>
        </p:txBody>
      </p:sp>
      <p:sp>
        <p:nvSpPr>
          <p:cNvPr id="148" name="Google Shape;148;p9">
            <a:extLst>
              <a:ext uri="{FF2B5EF4-FFF2-40B4-BE49-F238E27FC236}">
                <a16:creationId xmlns:a16="http://schemas.microsoft.com/office/drawing/2014/main" id="{13126904-1054-DEA9-0D99-4B1BE511DF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04091" y="1253522"/>
            <a:ext cx="8335818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endParaRPr dirty="0"/>
          </a:p>
        </p:txBody>
      </p:sp>
      <p:sp>
        <p:nvSpPr>
          <p:cNvPr id="149" name="Google Shape;149;p9">
            <a:extLst>
              <a:ext uri="{FF2B5EF4-FFF2-40B4-BE49-F238E27FC236}">
                <a16:creationId xmlns:a16="http://schemas.microsoft.com/office/drawing/2014/main" id="{7DA802BB-622A-A722-5632-4BD3E936EB3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DEPARTMENT OF COMPUTER SCIENCE AND ENGINEERING 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9E122B-055F-D333-D423-726369633D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37600"/>
            <a:ext cx="3412826" cy="42278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7F0D3B7-9D2E-7ABD-6085-C37EA6BFE8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4475" y="1623048"/>
            <a:ext cx="4240985" cy="3786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8464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>
          <a:extLst>
            <a:ext uri="{FF2B5EF4-FFF2-40B4-BE49-F238E27FC236}">
              <a16:creationId xmlns:a16="http://schemas.microsoft.com/office/drawing/2014/main" id="{58222255-8960-E87A-368E-6FE606BB9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">
            <a:extLst>
              <a:ext uri="{FF2B5EF4-FFF2-40B4-BE49-F238E27FC236}">
                <a16:creationId xmlns:a16="http://schemas.microsoft.com/office/drawing/2014/main" id="{C6EF5697-3821-AE38-B08B-120C66B250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1052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dirty="0"/>
              <a:t>Result</a:t>
            </a:r>
            <a:endParaRPr dirty="0"/>
          </a:p>
        </p:txBody>
      </p:sp>
      <p:sp>
        <p:nvSpPr>
          <p:cNvPr id="149" name="Google Shape;149;p9">
            <a:extLst>
              <a:ext uri="{FF2B5EF4-FFF2-40B4-BE49-F238E27FC236}">
                <a16:creationId xmlns:a16="http://schemas.microsoft.com/office/drawing/2014/main" id="{F2541AD1-FA3A-A4D4-2DE7-5ACA91ED636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DEPARTMENT OF COMPUTER SCIENCE AND ENGINEERING </a:t>
            </a:r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A5623D-B642-1D69-3ADD-940ECC6684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4980" y="1370402"/>
            <a:ext cx="5185211" cy="4292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1644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>
          <a:extLst>
            <a:ext uri="{FF2B5EF4-FFF2-40B4-BE49-F238E27FC236}">
              <a16:creationId xmlns:a16="http://schemas.microsoft.com/office/drawing/2014/main" id="{606E291C-E918-017A-4089-60EC36819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">
            <a:extLst>
              <a:ext uri="{FF2B5EF4-FFF2-40B4-BE49-F238E27FC236}">
                <a16:creationId xmlns:a16="http://schemas.microsoft.com/office/drawing/2014/main" id="{BA3C1DB0-D7F1-6553-AE0E-CD798BA4CE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1052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dirty="0"/>
              <a:t>Result</a:t>
            </a:r>
            <a:endParaRPr dirty="0"/>
          </a:p>
        </p:txBody>
      </p:sp>
      <p:sp>
        <p:nvSpPr>
          <p:cNvPr id="148" name="Google Shape;148;p9">
            <a:extLst>
              <a:ext uri="{FF2B5EF4-FFF2-40B4-BE49-F238E27FC236}">
                <a16:creationId xmlns:a16="http://schemas.microsoft.com/office/drawing/2014/main" id="{A031AB8C-CB76-1D41-E2EB-07C30715F4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04091" y="1253522"/>
            <a:ext cx="8335818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endParaRPr dirty="0"/>
          </a:p>
        </p:txBody>
      </p:sp>
      <p:sp>
        <p:nvSpPr>
          <p:cNvPr id="149" name="Google Shape;149;p9">
            <a:extLst>
              <a:ext uri="{FF2B5EF4-FFF2-40B4-BE49-F238E27FC236}">
                <a16:creationId xmlns:a16="http://schemas.microsoft.com/office/drawing/2014/main" id="{94EFC310-D9F6-A35F-2853-96EF75A690B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DEPARTMENT OF COMPUTER SCIENCE AND ENGINEERING 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B8BEB2-4D0D-CCB3-9B11-D633B84959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78515"/>
            <a:ext cx="9144000" cy="5842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1683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>
          <a:extLst>
            <a:ext uri="{FF2B5EF4-FFF2-40B4-BE49-F238E27FC236}">
              <a16:creationId xmlns:a16="http://schemas.microsoft.com/office/drawing/2014/main" id="{E3AEFB56-981E-85AF-6E58-CEE74C72B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">
            <a:extLst>
              <a:ext uri="{FF2B5EF4-FFF2-40B4-BE49-F238E27FC236}">
                <a16:creationId xmlns:a16="http://schemas.microsoft.com/office/drawing/2014/main" id="{17D19F56-CDAE-D536-8F39-AE8F26BA9A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1052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dirty="0"/>
              <a:t>Result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6D2A6C-F785-9390-ACCA-21496A5C9A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9334" y="1505528"/>
            <a:ext cx="3960575" cy="3657600"/>
          </a:xfrm>
          <a:prstGeom prst="rect">
            <a:avLst/>
          </a:prstGeom>
        </p:spPr>
      </p:pic>
      <p:sp>
        <p:nvSpPr>
          <p:cNvPr id="148" name="Google Shape;148;p9">
            <a:extLst>
              <a:ext uri="{FF2B5EF4-FFF2-40B4-BE49-F238E27FC236}">
                <a16:creationId xmlns:a16="http://schemas.microsoft.com/office/drawing/2014/main" id="{E5A0F0CE-BF37-4382-BE71-4A223B79D9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04091" y="1253522"/>
            <a:ext cx="8335818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endParaRPr dirty="0"/>
          </a:p>
        </p:txBody>
      </p:sp>
      <p:sp>
        <p:nvSpPr>
          <p:cNvPr id="149" name="Google Shape;149;p9">
            <a:extLst>
              <a:ext uri="{FF2B5EF4-FFF2-40B4-BE49-F238E27FC236}">
                <a16:creationId xmlns:a16="http://schemas.microsoft.com/office/drawing/2014/main" id="{545F6369-0FC3-0278-D5DC-652E8328683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DEPARTMENT OF COMPUTER SCIENCE AND ENGINEERING 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41A60EF-35F6-168C-FFF4-C2A0F3E73A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253522"/>
            <a:ext cx="4159445" cy="3821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790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169" name="Google Shape;169;p13"/>
          <p:cNvSpPr txBox="1">
            <a:spLocks noGrp="1"/>
          </p:cNvSpPr>
          <p:nvPr>
            <p:ph type="body" idx="1"/>
          </p:nvPr>
        </p:nvSpPr>
        <p:spPr>
          <a:xfrm>
            <a:off x="630936" y="1258094"/>
            <a:ext cx="8148227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detects and blurs toxic comments using the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DistilBERT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algorithm.</a:t>
            </a:r>
          </a:p>
          <a:p>
            <a:pPr>
              <a:lnSpc>
                <a:spcPct val="150000"/>
              </a:lnSpc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user safety while maintaining freedom of expression through an Unblur option.</a:t>
            </a:r>
          </a:p>
          <a:p>
            <a:pPr>
              <a:lnSpc>
                <a:spcPct val="150000"/>
              </a:lnSpc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Integrates Flask,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Ngrok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a Chrome Extension for real-time operation.</a:t>
            </a:r>
          </a:p>
          <a:p>
            <a:pPr>
              <a:lnSpc>
                <a:spcPct val="150000"/>
              </a:lnSpc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Promotes a positive online environment by reducing exposure to harmful content.</a:t>
            </a:r>
          </a:p>
          <a:p>
            <a:pPr>
              <a:lnSpc>
                <a:spcPct val="150000"/>
              </a:lnSpc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how AI can enhance digital well-being and create safer online spaces.</a:t>
            </a:r>
          </a:p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/>
          </a:p>
        </p:txBody>
      </p:sp>
      <p:sp>
        <p:nvSpPr>
          <p:cNvPr id="170" name="Google Shape;170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DEPARTMENT OF COMPUTER SCIENCE AND ENGINEERING 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Future Work</a:t>
            </a:r>
            <a:endParaRPr dirty="0"/>
          </a:p>
        </p:txBody>
      </p:sp>
      <p:sp>
        <p:nvSpPr>
          <p:cNvPr id="177" name="Google Shape;177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DEPARTMENT OF COMPUTER SCIENCE AND ENGINEERING </a:t>
            </a:r>
            <a:endParaRPr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8296DCD-104C-8351-B2C1-906A0F24BF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485062"/>
            <a:ext cx="838200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Train the model on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larger, multilingual datasets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better accuracy.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adaptive learning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using user feedback.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emotion and sentiment analysis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deeper understanding.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Expand into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cross-platform API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wider integration.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customizable settings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toxicity sensitivity and blur level.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edge AI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faster, private, real-time processing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dirty="0"/>
              <a:t>References</a:t>
            </a:r>
            <a:endParaRPr dirty="0"/>
          </a:p>
        </p:txBody>
      </p:sp>
      <p:sp>
        <p:nvSpPr>
          <p:cNvPr id="183" name="Google Shape;183;p15"/>
          <p:cNvSpPr txBox="1">
            <a:spLocks noGrp="1"/>
          </p:cNvSpPr>
          <p:nvPr>
            <p:ph type="body" idx="1"/>
          </p:nvPr>
        </p:nvSpPr>
        <p:spPr>
          <a:xfrm>
            <a:off x="457200" y="1066800"/>
            <a:ext cx="8229600" cy="5059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215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IN" sz="1800" dirty="0">
                <a:latin typeface="Times New Roman"/>
                <a:ea typeface="Times New Roman"/>
                <a:cs typeface="Times New Roman"/>
                <a:sym typeface="Times New Roman"/>
              </a:rPr>
              <a:t>1.	Perspective API. (2024). Using Machine Learning to Identify Toxic Comments. Google Jigsaw. Available at: https://www.perspectiveapi.com</a:t>
            </a:r>
          </a:p>
          <a:p>
            <a:pPr marL="342900" lvl="0" indent="-215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lang="en-IN"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215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IN" sz="1800" dirty="0">
                <a:latin typeface="Times New Roman"/>
                <a:ea typeface="Times New Roman"/>
                <a:cs typeface="Times New Roman"/>
                <a:sym typeface="Times New Roman"/>
              </a:rPr>
              <a:t>2.	Davidson, T., Warmsley, D., Macy, M., &amp; Weber, I. (2017). Automated Hate Speech Detection and the Problem of Offensive Language. Proceedings of ICWSM 2017, AAAI Publications.</a:t>
            </a:r>
          </a:p>
          <a:p>
            <a:pPr marL="342900" lvl="0" indent="-215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lang="en-IN"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215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IN" sz="1800" dirty="0">
                <a:latin typeface="Times New Roman"/>
                <a:ea typeface="Times New Roman"/>
                <a:cs typeface="Times New Roman"/>
                <a:sym typeface="Times New Roman"/>
              </a:rPr>
              <a:t>3.	Zhang, Z., Robinson, D., &amp; Tepper, J. (2018). Detecting Hate Speech on Twitter Using a Convolution–GRU Based Deep Neural Network. In Proceedings of the European Semantic Web Conference (ESWC 2018).</a:t>
            </a:r>
          </a:p>
          <a:p>
            <a:pPr marL="342900" lvl="0" indent="-215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lang="en-IN"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215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IN" sz="1800" dirty="0">
                <a:latin typeface="Times New Roman"/>
                <a:ea typeface="Times New Roman"/>
                <a:cs typeface="Times New Roman"/>
                <a:sym typeface="Times New Roman"/>
              </a:rPr>
              <a:t>4.	</a:t>
            </a:r>
            <a:r>
              <a:rPr lang="en-IN" sz="1800" dirty="0" err="1">
                <a:latin typeface="Times New Roman"/>
                <a:ea typeface="Times New Roman"/>
                <a:cs typeface="Times New Roman"/>
                <a:sym typeface="Times New Roman"/>
              </a:rPr>
              <a:t>Vidgen</a:t>
            </a:r>
            <a:r>
              <a:rPr lang="en-IN" sz="1800" dirty="0">
                <a:latin typeface="Times New Roman"/>
                <a:ea typeface="Times New Roman"/>
                <a:cs typeface="Times New Roman"/>
                <a:sym typeface="Times New Roman"/>
              </a:rPr>
              <a:t>, B., &amp; </a:t>
            </a:r>
            <a:r>
              <a:rPr lang="en-IN" sz="1800" dirty="0" err="1">
                <a:latin typeface="Times New Roman"/>
                <a:ea typeface="Times New Roman"/>
                <a:cs typeface="Times New Roman"/>
                <a:sym typeface="Times New Roman"/>
              </a:rPr>
              <a:t>Derczynski</a:t>
            </a:r>
            <a:r>
              <a:rPr lang="en-IN" sz="1800" dirty="0">
                <a:latin typeface="Times New Roman"/>
                <a:ea typeface="Times New Roman"/>
                <a:cs typeface="Times New Roman"/>
                <a:sym typeface="Times New Roman"/>
              </a:rPr>
              <a:t>, L. (2020). Directions in Abusive Language Training Data, a Systematic Review: Garbage In, Garbage Out. PLOS ONE, 15(12): e0243300.</a:t>
            </a:r>
          </a:p>
          <a:p>
            <a:pPr marL="342900" lvl="0" indent="-215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lang="en-IN"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215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IN" sz="1800" dirty="0">
                <a:latin typeface="Times New Roman"/>
                <a:ea typeface="Times New Roman"/>
                <a:cs typeface="Times New Roman"/>
                <a:sym typeface="Times New Roman"/>
              </a:rPr>
              <a:t>5.	Fortuna, P., &amp; Nunes, S. (2018). A Survey on Automatic Detection of Hate Speech in Text. ACM Computing Surveys, 51(4), 1–30. DOI: 10.1145/3232676.</a:t>
            </a:r>
          </a:p>
          <a:p>
            <a:pPr marL="342900" lvl="0" indent="-215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" name="Google Shape;184;p15"/>
          <p:cNvSpPr txBox="1">
            <a:spLocks noGrp="1"/>
          </p:cNvSpPr>
          <p:nvPr>
            <p:ph type="ftr" idx="11"/>
          </p:nvPr>
        </p:nvSpPr>
        <p:spPr>
          <a:xfrm>
            <a:off x="685800" y="6356351"/>
            <a:ext cx="7620000" cy="273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DEPARTMENT OF COMPUTER SCIENCE AND ENGINEERING 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>
          <a:extLst>
            <a:ext uri="{FF2B5EF4-FFF2-40B4-BE49-F238E27FC236}">
              <a16:creationId xmlns:a16="http://schemas.microsoft.com/office/drawing/2014/main" id="{5B242314-7A42-FD9D-6114-6AF0ADF50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5">
            <a:extLst>
              <a:ext uri="{FF2B5EF4-FFF2-40B4-BE49-F238E27FC236}">
                <a16:creationId xmlns:a16="http://schemas.microsoft.com/office/drawing/2014/main" id="{A1BBB9CE-9C43-6FD6-5B83-AB7258B7B8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dirty="0"/>
              <a:t>References</a:t>
            </a:r>
            <a:endParaRPr dirty="0"/>
          </a:p>
        </p:txBody>
      </p:sp>
      <p:sp>
        <p:nvSpPr>
          <p:cNvPr id="183" name="Google Shape;183;p15">
            <a:extLst>
              <a:ext uri="{FF2B5EF4-FFF2-40B4-BE49-F238E27FC236}">
                <a16:creationId xmlns:a16="http://schemas.microsoft.com/office/drawing/2014/main" id="{C074563C-8AB8-90F2-C2F2-E75806EDB8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066800"/>
            <a:ext cx="8229600" cy="5059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215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IN" sz="1800" dirty="0">
                <a:latin typeface="Times New Roman"/>
                <a:ea typeface="Times New Roman"/>
                <a:cs typeface="Times New Roman"/>
                <a:sym typeface="Times New Roman"/>
              </a:rPr>
              <a:t>6.	Dos Santos, C., &amp; Gatti, M. (2014). Deep Convolutional Neural Networks for Sentiment Analysis of Short Texts. Proceedings of COLING 2014: Technical Papers.</a:t>
            </a:r>
          </a:p>
          <a:p>
            <a:pPr marL="342900" lvl="0" indent="-215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lang="en-IN"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215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IN" sz="1800" dirty="0">
                <a:latin typeface="Times New Roman"/>
                <a:ea typeface="Times New Roman"/>
                <a:cs typeface="Times New Roman"/>
                <a:sym typeface="Times New Roman"/>
              </a:rPr>
              <a:t>7.	GitHub. (2024). Toxic Comment Classification Challenge Dataset. Available at: https://github.com/ (Accessed: October 2025).</a:t>
            </a:r>
          </a:p>
          <a:p>
            <a:pPr marL="342900" lvl="0" indent="-215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lang="en-IN"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215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IN" sz="1800" dirty="0">
                <a:latin typeface="Times New Roman"/>
                <a:ea typeface="Times New Roman"/>
                <a:cs typeface="Times New Roman"/>
                <a:sym typeface="Times New Roman"/>
              </a:rPr>
              <a:t>8.	Srivastava, S., &amp; Khare, V. (2022). Detection of Toxic Comments Using NLP and Deep Learning. International Journal of Computer Applications, Vol. 184(43), pp. 22–27.</a:t>
            </a:r>
          </a:p>
          <a:p>
            <a:pPr marL="342900" lvl="0" indent="-215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lang="en-IN"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215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IN" sz="1800" dirty="0">
                <a:latin typeface="Times New Roman"/>
                <a:ea typeface="Times New Roman"/>
                <a:cs typeface="Times New Roman"/>
                <a:sym typeface="Times New Roman"/>
              </a:rPr>
              <a:t>9.	Chen, Y., &amp; Chen, C. (2023). Real-Time Browser Extensions for Content Moderation Using Flask and Chrome APIs. Journal of Web Engineering and Technology, 21(3), 45–58.</a:t>
            </a:r>
          </a:p>
          <a:p>
            <a:pPr marL="342900" lvl="0" indent="-215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lang="en-IN"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215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IN" sz="1800" dirty="0">
                <a:latin typeface="Times New Roman"/>
                <a:ea typeface="Times New Roman"/>
                <a:cs typeface="Times New Roman"/>
                <a:sym typeface="Times New Roman"/>
              </a:rPr>
              <a:t>10. </a:t>
            </a:r>
            <a:r>
              <a:rPr lang="en-IN" sz="1800" dirty="0" err="1">
                <a:latin typeface="Times New Roman"/>
                <a:ea typeface="Times New Roman"/>
                <a:cs typeface="Times New Roman"/>
                <a:sym typeface="Times New Roman"/>
              </a:rPr>
              <a:t>Pitsilis</a:t>
            </a:r>
            <a:r>
              <a:rPr lang="en-IN" sz="1800" dirty="0">
                <a:latin typeface="Times New Roman"/>
                <a:ea typeface="Times New Roman"/>
                <a:cs typeface="Times New Roman"/>
                <a:sym typeface="Times New Roman"/>
              </a:rPr>
              <a:t>, G., </a:t>
            </a:r>
            <a:r>
              <a:rPr lang="en-IN" sz="1800" dirty="0" err="1">
                <a:latin typeface="Times New Roman"/>
                <a:ea typeface="Times New Roman"/>
                <a:cs typeface="Times New Roman"/>
                <a:sym typeface="Times New Roman"/>
              </a:rPr>
              <a:t>Ramampiaro</a:t>
            </a:r>
            <a:r>
              <a:rPr lang="en-IN" sz="1800" dirty="0">
                <a:latin typeface="Times New Roman"/>
                <a:ea typeface="Times New Roman"/>
                <a:cs typeface="Times New Roman"/>
                <a:sym typeface="Times New Roman"/>
              </a:rPr>
              <a:t>, H., &amp; Langseth, H. (2018). Effective Hate-Speech Detection in Twitter Data Using Recurrent Neural Networks. Applied Intelligence, 48, 4730–4742. DOI: 10.1007/s10489-018-1242-y.</a:t>
            </a:r>
          </a:p>
          <a:p>
            <a:pPr marL="342900" lvl="0" indent="-215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lang="en-IN"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215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lang="en-IN"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215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" name="Google Shape;184;p15">
            <a:extLst>
              <a:ext uri="{FF2B5EF4-FFF2-40B4-BE49-F238E27FC236}">
                <a16:creationId xmlns:a16="http://schemas.microsoft.com/office/drawing/2014/main" id="{D21C1A33-9DF1-76CA-C0D8-8939C9ACD07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685800" y="6356351"/>
            <a:ext cx="7620000" cy="273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DEPARTMENT OF COMPUTER SCIENCE AND ENGINEERING 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728705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1823</Words>
  <Application>Microsoft Office PowerPoint</Application>
  <PresentationFormat>On-screen Show (4:3)</PresentationFormat>
  <Paragraphs>217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Calibri</vt:lpstr>
      <vt:lpstr>Times New Roman</vt:lpstr>
      <vt:lpstr>Office Theme</vt:lpstr>
      <vt:lpstr>SRM INSTITUTE OF SCIENCE AND TECHNOLOGY Ramapuram , Chennai – 600 089 DEPARTMENT OF COMPUTER SCIENCE AND ENGINEERING</vt:lpstr>
      <vt:lpstr>ABSTRACT</vt:lpstr>
      <vt:lpstr>Scope and Motivation</vt:lpstr>
      <vt:lpstr>Introduction</vt:lpstr>
      <vt:lpstr>Literature Survey</vt:lpstr>
      <vt:lpstr>Literature Survey</vt:lpstr>
      <vt:lpstr>Literature Survey</vt:lpstr>
      <vt:lpstr>Literature Survey</vt:lpstr>
      <vt:lpstr>Literature Survey</vt:lpstr>
      <vt:lpstr>Objective</vt:lpstr>
      <vt:lpstr>Problem Statement</vt:lpstr>
      <vt:lpstr>Proposed Work</vt:lpstr>
      <vt:lpstr>Architecture Diagram</vt:lpstr>
      <vt:lpstr>Module Description</vt:lpstr>
      <vt:lpstr>Module Description</vt:lpstr>
      <vt:lpstr>Module Description</vt:lpstr>
      <vt:lpstr>Module Description</vt:lpstr>
      <vt:lpstr>Module Description</vt:lpstr>
      <vt:lpstr>Implementation</vt:lpstr>
      <vt:lpstr>Implementation</vt:lpstr>
      <vt:lpstr>Implementation</vt:lpstr>
      <vt:lpstr>Implementation</vt:lpstr>
      <vt:lpstr>Result</vt:lpstr>
      <vt:lpstr>Result</vt:lpstr>
      <vt:lpstr>Result</vt:lpstr>
      <vt:lpstr>Conclusion</vt:lpstr>
      <vt:lpstr>Future Work</vt:lpstr>
      <vt:lpstr>References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DELL</dc:creator>
  <cp:lastModifiedBy>vilasni M</cp:lastModifiedBy>
  <cp:revision>3</cp:revision>
  <dcterms:created xsi:type="dcterms:W3CDTF">2023-07-26T03:49:14Z</dcterms:created>
  <dcterms:modified xsi:type="dcterms:W3CDTF">2025-10-30T01:14:38Z</dcterms:modified>
</cp:coreProperties>
</file>