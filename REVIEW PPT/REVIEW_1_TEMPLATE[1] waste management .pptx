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9" r:id="rId12"/>
    <p:sldId id="268" r:id="rId13"/>
    <p:sldId id="270" r:id="rId14"/>
    <p:sldId id="271" r:id="rId15"/>
    <p:sldId id="272" r:id="rId16"/>
    <p:sldId id="273" r:id="rId17"/>
  </p:sldIdLst>
  <p:sldSz cx="18288000" cy="10287000"/>
  <p:notesSz cx="6858000" cy="9144000"/>
  <p:embeddedFontLst>
    <p:embeddedFont>
      <p:font typeface="Times New Roman Bold" panose="02020803070505020304" pitchFamily="18" charset="0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7B013C-D0EA-46D8-81F4-E955A3A324C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6E08AE-9615-4FCE-95BD-28FBA1CEC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776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6E08AE-9615-4FCE-95BD-28FBA1CECB1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716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B23E-E68F-4D29-868F-F48FE06A1ABD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36EEC-9EB0-4754-B7F3-F7363CAB860C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8F9E2-4BA1-4A92-858C-2D2118597E17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1378E-B9A6-4E08-AC24-2DA70F869577}" type="datetime1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9ED8C-6C7A-4D36-A1C6-B73AFA7FB1B7}" type="datetime1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F7444-BF85-4FB2-957F-2E90BD3DE5B8}" type="datetime1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8EECC-C809-4F80-B9FC-EEA2EE3435CD}" type="datetime1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0ECC3-1CE6-4761-876B-83A6F788EE7D}" type="datetime1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779E7-F408-443A-B0B9-2C0B573B9885}" type="datetime1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0F75-5A65-46D5-9F6C-21C3D68DFD9D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C302E-931B-4E9E-BC77-C9771740EF9D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F3458D-B529-497E-A6F4-53ABB7C5A5D1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33925" y="607791"/>
            <a:ext cx="10210800" cy="1995489"/>
            <a:chOff x="0" y="0"/>
            <a:chExt cx="9681351" cy="18920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81351" cy="1892019"/>
            </a:xfrm>
            <a:custGeom>
              <a:avLst/>
              <a:gdLst/>
              <a:ahLst/>
              <a:cxnLst/>
              <a:rect l="l" t="t" r="r" b="b"/>
              <a:pathLst>
                <a:path w="9681351" h="1892019">
                  <a:moveTo>
                    <a:pt x="0" y="0"/>
                  </a:moveTo>
                  <a:lnTo>
                    <a:pt x="9681351" y="0"/>
                  </a:lnTo>
                  <a:lnTo>
                    <a:pt x="9681351" y="1892019"/>
                  </a:lnTo>
                  <a:lnTo>
                    <a:pt x="0" y="18920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9681351" cy="19586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SRM INSTITUTE OF SCIENCE AND TECHNOLOGY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 b="1" dirty="0" err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Ramapuram</a:t>
              </a:r>
              <a:r>
                <a:rPr lang="en-US" sz="27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, Chennai – 600 089</a:t>
              </a:r>
            </a:p>
            <a:p>
              <a:pPr algn="ctr">
                <a:lnSpc>
                  <a:spcPts val="2879"/>
                </a:lnSpc>
              </a:pPr>
              <a:r>
                <a:rPr lang="en-US" sz="2399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SCHOOL OF COMPUTER SCIENCE AND ENGINEERING DEPARTMENT OF COMPUTER SCIENCE AND ENGINEERING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078956" y="2633597"/>
            <a:ext cx="12130087" cy="3347165"/>
            <a:chOff x="0" y="-149992"/>
            <a:chExt cx="11501119" cy="3173609"/>
          </a:xfrm>
        </p:grpSpPr>
        <p:sp>
          <p:nvSpPr>
            <p:cNvPr id="6" name="Freeform 6"/>
            <p:cNvSpPr/>
            <p:nvPr/>
          </p:nvSpPr>
          <p:spPr>
            <a:xfrm>
              <a:off x="13546" y="-149992"/>
              <a:ext cx="11487573" cy="3023617"/>
            </a:xfrm>
            <a:custGeom>
              <a:avLst/>
              <a:gdLst/>
              <a:ahLst/>
              <a:cxnLst/>
              <a:rect l="l" t="t" r="r" b="b"/>
              <a:pathLst>
                <a:path w="11487573" h="3023617">
                  <a:moveTo>
                    <a:pt x="0" y="0"/>
                  </a:moveTo>
                  <a:lnTo>
                    <a:pt x="11487573" y="0"/>
                  </a:lnTo>
                  <a:lnTo>
                    <a:pt x="11487573" y="3023617"/>
                  </a:lnTo>
                  <a:lnTo>
                    <a:pt x="0" y="30236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11487573" cy="309981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319"/>
                </a:lnSpc>
              </a:pPr>
              <a:r>
                <a:rPr lang="en-US" sz="3599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21CSC305P </a:t>
              </a:r>
              <a:r>
                <a:rPr lang="en-US" sz="3599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- </a:t>
              </a:r>
              <a:r>
                <a:rPr lang="en-US" sz="3599" dirty="0">
                  <a:solidFill>
                    <a:schemeClr val="tx2">
                      <a:lumMod val="75000"/>
                    </a:schemeClr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Machine Learning </a:t>
              </a:r>
            </a:p>
            <a:p>
              <a:pPr algn="ctr">
                <a:lnSpc>
                  <a:spcPts val="4319"/>
                </a:lnSpc>
              </a:pPr>
              <a:r>
                <a:rPr lang="en-US" sz="3599" b="1" dirty="0">
                  <a:solidFill>
                    <a:schemeClr val="bg2">
                      <a:lumMod val="50000"/>
                    </a:schemeClr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First Review</a:t>
              </a:r>
            </a:p>
            <a:p>
              <a:pPr algn="ctr">
                <a:lnSpc>
                  <a:spcPts val="4319"/>
                </a:lnSpc>
              </a:pPr>
              <a:r>
                <a:rPr lang="en-IN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AI-Powered Waste Management System</a:t>
              </a:r>
              <a:endParaRPr sz="4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8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7326806"/>
              </p:ext>
            </p:extLst>
          </p:nvPr>
        </p:nvGraphicFramePr>
        <p:xfrm>
          <a:off x="2486025" y="5913694"/>
          <a:ext cx="12458700" cy="3400647"/>
        </p:xfrm>
        <a:graphic>
          <a:graphicData uri="http://schemas.openxmlformats.org/drawingml/2006/table">
            <a:tbl>
              <a:tblPr/>
              <a:tblGrid>
                <a:gridCol w="7953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5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1837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1" dirty="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Team Members</a:t>
                      </a:r>
                    </a:p>
                  </a:txBody>
                  <a:tcPr marT="91440" marB="91440" anchor="ctr">
                    <a:lnL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1" dirty="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Supervisor</a:t>
                      </a:r>
                      <a:endParaRPr lang="en-US" sz="1100" dirty="0"/>
                    </a:p>
                  </a:txBody>
                  <a:tcPr marT="91440" marB="91440" anchor="ctr">
                    <a:lnL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8810">
                <a:tc>
                  <a:txBody>
                    <a:bodyPr/>
                    <a:lstStyle/>
                    <a:p>
                      <a:pPr lvl="0" algn="l">
                        <a:lnSpc>
                          <a:spcPts val="1679"/>
                        </a:lnSpc>
                        <a:defRPr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VILASNI M (RA2311003020003)</a:t>
                      </a:r>
                    </a:p>
                    <a:p>
                      <a:pPr lvl="0" algn="l">
                        <a:lnSpc>
                          <a:spcPts val="1679"/>
                        </a:lnSpc>
                        <a:defRPr/>
                      </a:pP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l">
                        <a:lnSpc>
                          <a:spcPts val="1679"/>
                        </a:lnSpc>
                        <a:defRPr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MOHAMED SHAKEEL M S (RA2311003020012)</a:t>
                      </a:r>
                    </a:p>
                    <a:p>
                      <a:pPr lvl="0" algn="l">
                        <a:lnSpc>
                          <a:spcPts val="1679"/>
                        </a:lnSpc>
                        <a:defRPr/>
                      </a:pP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l">
                        <a:lnSpc>
                          <a:spcPts val="1679"/>
                        </a:lnSpc>
                        <a:defRPr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HARIHARAN S (RA2311003020022)</a:t>
                      </a:r>
                    </a:p>
                    <a:p>
                      <a:pPr lvl="0" algn="l">
                        <a:lnSpc>
                          <a:spcPts val="1679"/>
                        </a:lnSpc>
                        <a:defRPr/>
                      </a:pP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l">
                        <a:lnSpc>
                          <a:spcPts val="1679"/>
                        </a:lnSpc>
                        <a:defRPr/>
                      </a:pP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l">
                        <a:lnSpc>
                          <a:spcPts val="1679"/>
                        </a:lnSpc>
                        <a:defRPr/>
                      </a:pP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defRPr/>
                      </a:pP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</a:pPr>
                      <a:r>
                        <a:rPr lang="en-US" sz="2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Dr. </a:t>
                      </a:r>
                      <a:r>
                        <a:rPr lang="en-US" sz="27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Adlene</a:t>
                      </a:r>
                      <a:r>
                        <a:rPr lang="en-US" sz="2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Ebenezer P,</a:t>
                      </a:r>
                    </a:p>
                    <a:p>
                      <a:pPr algn="l">
                        <a:lnSpc>
                          <a:spcPts val="3240"/>
                        </a:lnSpc>
                      </a:pPr>
                      <a:r>
                        <a:rPr lang="en-US" sz="2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Assistant Professor,</a:t>
                      </a:r>
                    </a:p>
                    <a:p>
                      <a:pPr algn="l">
                        <a:lnSpc>
                          <a:spcPts val="3240"/>
                        </a:lnSpc>
                      </a:pPr>
                      <a:r>
                        <a:rPr lang="en-US" sz="2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SRM IST,</a:t>
                      </a:r>
                    </a:p>
                    <a:p>
                      <a:pPr algn="l">
                        <a:lnSpc>
                          <a:spcPts val="3240"/>
                        </a:lnSpc>
                      </a:pPr>
                      <a:r>
                        <a:rPr lang="en-US" sz="27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Ramapuram</a:t>
                      </a:r>
                      <a:r>
                        <a:rPr lang="en-US" sz="2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</a:p>
                  </a:txBody>
                  <a:tcPr marT="91440" marB="91440" anchor="ctr">
                    <a:lnL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Freeform 15"/>
          <p:cNvSpPr/>
          <p:nvPr/>
        </p:nvSpPr>
        <p:spPr>
          <a:xfrm>
            <a:off x="2406226" y="972659"/>
            <a:ext cx="2356274" cy="1022034"/>
          </a:xfrm>
          <a:custGeom>
            <a:avLst/>
            <a:gdLst/>
            <a:ahLst/>
            <a:cxnLst/>
            <a:rect l="l" t="t" r="r" b="b"/>
            <a:pathLst>
              <a:path w="2356274" h="1022034">
                <a:moveTo>
                  <a:pt x="0" y="0"/>
                </a:moveTo>
                <a:lnTo>
                  <a:pt x="2356274" y="0"/>
                </a:lnTo>
                <a:lnTo>
                  <a:pt x="2356274" y="1022034"/>
                </a:lnTo>
                <a:lnTo>
                  <a:pt x="0" y="1022034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print"/>
            <a:stretch>
              <a:fillRect t="-12" b="-12"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2971800" y="9679209"/>
            <a:ext cx="12115800" cy="409573"/>
          </a:xfrm>
          <a:custGeom>
            <a:avLst/>
            <a:gdLst/>
            <a:ahLst/>
            <a:cxnLst/>
            <a:rect l="l" t="t" r="r" b="b"/>
            <a:pathLst>
              <a:path w="11487573" h="388336">
                <a:moveTo>
                  <a:pt x="0" y="0"/>
                </a:moveTo>
                <a:lnTo>
                  <a:pt x="11487573" y="0"/>
                </a:lnTo>
                <a:lnTo>
                  <a:pt x="11487573" y="388336"/>
                </a:lnTo>
                <a:lnTo>
                  <a:pt x="0" y="38833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IN"/>
          </a:p>
        </p:txBody>
      </p:sp>
      <p:grpSp>
        <p:nvGrpSpPr>
          <p:cNvPr id="13" name="Group 13"/>
          <p:cNvGrpSpPr/>
          <p:nvPr/>
        </p:nvGrpSpPr>
        <p:grpSpPr>
          <a:xfrm>
            <a:off x="2971800" y="0"/>
            <a:ext cx="12344400" cy="1714500"/>
            <a:chOff x="0" y="0"/>
            <a:chExt cx="11704320" cy="1625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33350"/>
              <a:ext cx="11704320" cy="1758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919"/>
                </a:lnSpc>
              </a:pPr>
              <a:endParaRPr lang="en-US" sz="6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95653F9-52EC-6994-9EDC-C1F155677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7297400" cy="11430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OF THE PPT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4F5C51-4E95-938E-F321-ECF69B09F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17297400" cy="8079009"/>
          </a:xfrm>
        </p:spPr>
        <p:txBody>
          <a:bodyPr/>
          <a:lstStyle/>
          <a:p>
            <a:r>
              <a:rPr lang="en-IN" dirty="0"/>
              <a:t>INTRODUCTION (1 SLIDE)</a:t>
            </a:r>
          </a:p>
          <a:p>
            <a:r>
              <a:rPr lang="en-IN" dirty="0"/>
              <a:t>EXISTING PROBLEM STATEMENT (2-3 POINTS) (1 SLIDE)</a:t>
            </a:r>
          </a:p>
          <a:p>
            <a:r>
              <a:rPr lang="en-IN" dirty="0"/>
              <a:t>OBJECTIVE (RELATED TO PROBLEM STATEMENT) (1 SLIDE)</a:t>
            </a:r>
          </a:p>
          <a:p>
            <a:r>
              <a:rPr lang="en-IN" dirty="0"/>
              <a:t>LITRATURE SURVEY (EACH 1 SLIDE)</a:t>
            </a:r>
          </a:p>
          <a:p>
            <a:pPr lvl="1"/>
            <a:r>
              <a:rPr lang="en-IN" dirty="0"/>
              <a:t>TABLE FORMAT (5 PAPERS, SHOULD BE RECENT PAPERS I.E., AFTER 2022)</a:t>
            </a:r>
          </a:p>
          <a:p>
            <a:pPr lvl="2"/>
            <a:r>
              <a:rPr lang="en-IN" dirty="0"/>
              <a:t>PAPER TITLE</a:t>
            </a:r>
          </a:p>
          <a:p>
            <a:pPr lvl="2"/>
            <a:r>
              <a:rPr lang="en-IN" dirty="0"/>
              <a:t>PUBLISHED YEAR</a:t>
            </a:r>
          </a:p>
          <a:p>
            <a:pPr lvl="2"/>
            <a:r>
              <a:rPr lang="en-IN" dirty="0"/>
              <a:t>METHODOLOGY USED</a:t>
            </a:r>
          </a:p>
          <a:p>
            <a:pPr lvl="2"/>
            <a:r>
              <a:rPr lang="en-IN" dirty="0"/>
              <a:t>INFERENCE/REMARKS</a:t>
            </a:r>
          </a:p>
          <a:p>
            <a:r>
              <a:rPr lang="en-IN" dirty="0"/>
              <a:t>ARCHITECTURE DIAGRAM (1 SLIDE)</a:t>
            </a:r>
          </a:p>
          <a:p>
            <a:r>
              <a:rPr lang="en-IN" dirty="0"/>
              <a:t>MODULE DESCRIPTION (EACH MODULE 1 SLIDE)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EF812-2CB0-EC99-46B2-43CF47AFF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74638"/>
            <a:ext cx="15544800" cy="1668462"/>
          </a:xfrm>
        </p:spPr>
        <p:txBody>
          <a:bodyPr>
            <a:normAutofit/>
          </a:bodyPr>
          <a:lstStyle/>
          <a:p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5367F-82D5-5521-F0FB-883DD8CC8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36EEC-9EB0-4754-B7F3-F7363CAB860C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84AE5-2786-3D06-D6C4-5DC601080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BF335-9B38-7F28-4BA6-F7BF4FA00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A7819281-8BA6-AA78-A2FE-E2BDEEE515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22863" y="2400300"/>
            <a:ext cx="9220200" cy="67847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Waste Management System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urban waste requires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sorting and recycling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methods.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system uses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 (CNN)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waste into categories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(organic, plastic, paper, etc.).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sorting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reduces human effort,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sustainable recycling practices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1419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2476-92D3-46B4-B2C6-8795EBB07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0" y="274638"/>
            <a:ext cx="14935200" cy="1143000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45FE0-1A9D-44ED-8E05-9F1451B71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1836642"/>
            <a:ext cx="16078200" cy="7955058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Waste Sorting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Human workers segregate waste into categories like plastic, paper, organic.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Time-consuming, labor-intensive, and error-prone.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Sensor-based Bins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Sensors detect fill-levels and sometimes type of waste using weight or basic color detection.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Limited accuracy; cannot reliably classify complex waste items.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Outdated Recycling Practices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Waste is dumped in central facilities and manually sorted later.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Inefficient, high operational cost, and delays recycling.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7C445-B8F3-7040-6BF8-28D0C3065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36EEC-9EB0-4754-B7F3-F7363CAB860C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AFF26-A8F7-631C-48C5-E933A14B3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A9699-1F42-7BDE-3ADD-083C102DD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5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42A0C-A4A3-4816-508C-62FD81B2F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457200"/>
            <a:ext cx="15697200" cy="1714500"/>
          </a:xfrm>
        </p:spPr>
        <p:txBody>
          <a:bodyPr>
            <a:normAutofit/>
          </a:bodyPr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84044-C045-87CC-B615-AFB5A7739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36EEC-9EB0-4754-B7F3-F7363CAB860C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7B1FE-9ADC-70C1-B890-94F16E6FA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5887A-F46F-4CAA-5B28-A9F31796F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554136E-7837-F5B7-2CC3-D21AC95FCA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2076417"/>
            <a:ext cx="10161896" cy="7045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classify waste into categories like plastic, paper, metal, and organic.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efficiency and accuracy in waste segregation.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human labor and errors in sorting processes.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real-time solution that can be integrated with smart bins or recycling systems.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sustainable and eco-friendly waste management practices.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5122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B86EA-E472-CAC0-EB3C-CA4515FBF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4638"/>
            <a:ext cx="15392400" cy="304006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1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0F09A-2754-E784-27F3-4DB6E7D94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36EEC-9EB0-4754-B7F3-F7363CAB860C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20C21-5192-43D4-BEAD-74D1102DB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ECD6D-6AD6-860E-4866-CF7F91CC1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EB58C389-2000-2232-080C-A3E006729F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6664976"/>
              </p:ext>
            </p:extLst>
          </p:nvPr>
        </p:nvGraphicFramePr>
        <p:xfrm>
          <a:off x="1524000" y="3543300"/>
          <a:ext cx="15392400" cy="662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8100">
                  <a:extLst>
                    <a:ext uri="{9D8B030D-6E8A-4147-A177-3AD203B41FA5}">
                      <a16:colId xmlns:a16="http://schemas.microsoft.com/office/drawing/2014/main" val="2112379280"/>
                    </a:ext>
                  </a:extLst>
                </a:gridCol>
                <a:gridCol w="3848100">
                  <a:extLst>
                    <a:ext uri="{9D8B030D-6E8A-4147-A177-3AD203B41FA5}">
                      <a16:colId xmlns:a16="http://schemas.microsoft.com/office/drawing/2014/main" val="51289976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185763801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554150992"/>
                    </a:ext>
                  </a:extLst>
                </a:gridCol>
              </a:tblGrid>
              <a:tr h="1753230">
                <a:tc>
                  <a:txBody>
                    <a:bodyPr/>
                    <a:lstStyle/>
                    <a:p>
                      <a:r>
                        <a:rPr lang="en-IN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PUBLISHED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METHADOLOGY USED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INTERFACE /REMARK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242231"/>
                  </a:ext>
                </a:extLst>
              </a:tr>
              <a:tr h="487617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72928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4642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1FC8A-FC25-69D0-B092-2CC44188C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03769-F952-C95C-729B-2B3318993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4638"/>
            <a:ext cx="15392400" cy="304006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2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2B4A17-7754-FE88-0BD9-58AC62EAB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36EEC-9EB0-4754-B7F3-F7363CAB860C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C4EA9-B9F5-F1C3-6544-BBFAEDB98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8EACC-0A15-FD32-DFA1-155826794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81D253B9-3567-8C49-0F72-F83412F6ABA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524000" y="3543300"/>
          <a:ext cx="15392400" cy="662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8100">
                  <a:extLst>
                    <a:ext uri="{9D8B030D-6E8A-4147-A177-3AD203B41FA5}">
                      <a16:colId xmlns:a16="http://schemas.microsoft.com/office/drawing/2014/main" val="2112379280"/>
                    </a:ext>
                  </a:extLst>
                </a:gridCol>
                <a:gridCol w="3848100">
                  <a:extLst>
                    <a:ext uri="{9D8B030D-6E8A-4147-A177-3AD203B41FA5}">
                      <a16:colId xmlns:a16="http://schemas.microsoft.com/office/drawing/2014/main" val="51289976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185763801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554150992"/>
                    </a:ext>
                  </a:extLst>
                </a:gridCol>
              </a:tblGrid>
              <a:tr h="1753230">
                <a:tc>
                  <a:txBody>
                    <a:bodyPr/>
                    <a:lstStyle/>
                    <a:p>
                      <a:r>
                        <a:rPr lang="en-IN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PUBLISHED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METHADOLOGY USED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INTERFACE /REMARK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242231"/>
                  </a:ext>
                </a:extLst>
              </a:tr>
              <a:tr h="487617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72928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445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2EB15-2F4A-0AD3-70F8-ABAD4F651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2BF53-3ED2-4274-891D-D87BA418E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4638"/>
            <a:ext cx="15392400" cy="304006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3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F2E81-B1FF-28FC-0731-B2E2973BE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36EEC-9EB0-4754-B7F3-F7363CAB860C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10801-E826-E4A6-450C-81CB4BC60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E5B52-FDF5-9EEC-73F6-6035BEAF6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F23431B8-D4E2-F11E-E778-97167D33809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524000" y="3543300"/>
          <a:ext cx="15392400" cy="662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8100">
                  <a:extLst>
                    <a:ext uri="{9D8B030D-6E8A-4147-A177-3AD203B41FA5}">
                      <a16:colId xmlns:a16="http://schemas.microsoft.com/office/drawing/2014/main" val="2112379280"/>
                    </a:ext>
                  </a:extLst>
                </a:gridCol>
                <a:gridCol w="3848100">
                  <a:extLst>
                    <a:ext uri="{9D8B030D-6E8A-4147-A177-3AD203B41FA5}">
                      <a16:colId xmlns:a16="http://schemas.microsoft.com/office/drawing/2014/main" val="51289976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185763801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554150992"/>
                    </a:ext>
                  </a:extLst>
                </a:gridCol>
              </a:tblGrid>
              <a:tr h="1753230">
                <a:tc>
                  <a:txBody>
                    <a:bodyPr/>
                    <a:lstStyle/>
                    <a:p>
                      <a:r>
                        <a:rPr lang="en-IN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PUBLISHED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METHADOLOGY USED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INTERFACE /REMARK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242231"/>
                  </a:ext>
                </a:extLst>
              </a:tr>
              <a:tr h="487617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72928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8437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7791F-1FC3-FE83-5B0F-2B471177F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820F4-1BCA-F09C-7C96-B11D075E4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4638"/>
            <a:ext cx="15392400" cy="304006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4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0FA41-F624-94CB-2A4C-399E5301E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36EEC-9EB0-4754-B7F3-F7363CAB860C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B902D-7403-A92F-8116-E9361C4B1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EAFF8-F606-9605-F005-7B75B9A0A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E67FDAAD-31EE-99AF-A089-7B14E1212E1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524000" y="3543300"/>
          <a:ext cx="15392400" cy="662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8100">
                  <a:extLst>
                    <a:ext uri="{9D8B030D-6E8A-4147-A177-3AD203B41FA5}">
                      <a16:colId xmlns:a16="http://schemas.microsoft.com/office/drawing/2014/main" val="2112379280"/>
                    </a:ext>
                  </a:extLst>
                </a:gridCol>
                <a:gridCol w="3848100">
                  <a:extLst>
                    <a:ext uri="{9D8B030D-6E8A-4147-A177-3AD203B41FA5}">
                      <a16:colId xmlns:a16="http://schemas.microsoft.com/office/drawing/2014/main" val="51289976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185763801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554150992"/>
                    </a:ext>
                  </a:extLst>
                </a:gridCol>
              </a:tblGrid>
              <a:tr h="1753230">
                <a:tc>
                  <a:txBody>
                    <a:bodyPr/>
                    <a:lstStyle/>
                    <a:p>
                      <a:r>
                        <a:rPr lang="en-IN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PUBLISHED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METHADOLOGY USED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INTERFACE /REMARK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242231"/>
                  </a:ext>
                </a:extLst>
              </a:tr>
              <a:tr h="487617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72928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416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81C3B-6F2D-AAB0-E868-19B6190FC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5EC7F-7897-AAA6-1B8F-F3AB6D579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4638"/>
            <a:ext cx="15392400" cy="304006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5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4D47C-95D6-5ED2-1751-93F019EF2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36EEC-9EB0-4754-B7F3-F7363CAB860C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264C0-E972-8B65-13D6-F6F5E8308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368217-3780-D4CF-D786-4A2F7DCAB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BE093958-1D7A-3C72-918E-FDC5737846C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524000" y="3543300"/>
          <a:ext cx="15392400" cy="662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8100">
                  <a:extLst>
                    <a:ext uri="{9D8B030D-6E8A-4147-A177-3AD203B41FA5}">
                      <a16:colId xmlns:a16="http://schemas.microsoft.com/office/drawing/2014/main" val="2112379280"/>
                    </a:ext>
                  </a:extLst>
                </a:gridCol>
                <a:gridCol w="3848100">
                  <a:extLst>
                    <a:ext uri="{9D8B030D-6E8A-4147-A177-3AD203B41FA5}">
                      <a16:colId xmlns:a16="http://schemas.microsoft.com/office/drawing/2014/main" val="51289976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185763801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554150992"/>
                    </a:ext>
                  </a:extLst>
                </a:gridCol>
              </a:tblGrid>
              <a:tr h="1753230">
                <a:tc>
                  <a:txBody>
                    <a:bodyPr/>
                    <a:lstStyle/>
                    <a:p>
                      <a:r>
                        <a:rPr lang="en-IN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PUBLISHED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METHADOLOGY USED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INTERFACE /REMARK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242231"/>
                  </a:ext>
                </a:extLst>
              </a:tr>
              <a:tr h="487617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72928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3521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BCF6E-AE3E-45CD-A55A-AB7905192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27012"/>
            <a:ext cx="15316200" cy="2097087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E810F-CFDD-3DC3-C24C-01F69F3DD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781300"/>
            <a:ext cx="15316200" cy="6858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48666-3D84-6596-6C9E-68F071F93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36EEC-9EB0-4754-B7F3-F7363CAB860C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F02AC-3008-9177-E1CF-55979FA6D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BC958-4A47-6C4D-4A6D-9EAD28CBD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25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5F33D-15A3-F794-015F-C0D31F147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274638"/>
            <a:ext cx="15316200" cy="189706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24212-D521-6C2A-6EDF-CE2F9A70B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7800" y="2476500"/>
            <a:ext cx="9144000" cy="685800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Data Collection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Gather text data containing toxic, abusive, or offensive comments from publicly available datasets.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training and testing data in CSV format for the model.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data is cleaned, labeled, and representative of different types of abusive language.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EB2B3-9B39-99C4-24B8-7AB2EEB31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36EEC-9EB0-4754-B7F3-F7363CAB860C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78D95-1F19-78DA-EB5F-4D8DBB7CA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865D2-799D-11F6-5B18-1A9295DF3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046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37694-0EF8-A64B-E532-352F8FD52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0323B-C94B-9285-67FD-FBD6C4761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274638"/>
            <a:ext cx="15316200" cy="189706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BBB05-AFF0-DAE2-56FE-005A359A4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7800" y="2476500"/>
            <a:ext cx="9144000" cy="68580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Data Preprocessing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the text by removing special characters, URLs, and unnecessary whitespace.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Tokenize sentences and convert text into numerical representations suitable for the model.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class imbalance and ensure data is ready for model training.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A57FD-81D5-FE3A-04D6-3C262439B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36EEC-9EB0-4754-B7F3-F7363CAB860C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3B5DB-A229-A16E-71FF-2E58E619B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35B22-1C71-11EC-C4BA-B5191BA70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489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A5D51-E337-E4C2-B9F6-522F116F0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7EC2F-83A5-32E8-E6F1-ABD7C3D9A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274638"/>
            <a:ext cx="15316200" cy="189706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AE5A0-CC64-2CEE-8BD2-77C95B313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7800" y="2476500"/>
            <a:ext cx="9144000" cy="68580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Model Training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the model using a pre-trained transformer-based architecture for text classification.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model parameters to accurately distinguish between abusive and safe comments.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performance on a separate testing dataset to ensure generalization.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4EA88-A903-8714-4ED7-EFCBDDAAC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36EEC-9EB0-4754-B7F3-F7363CAB860C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6D7D8-A5C6-BE11-8703-B17EE62E5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AA9EB-2C17-2918-3A36-BB9C6D5D3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4152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6B4DD-F3C4-6EF8-60A7-FF21EF948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169CF-2EB6-6749-3A52-49E0BC9BD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274638"/>
            <a:ext cx="15316200" cy="189706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18FC9-B606-780E-438A-F83BDF755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7800" y="2476500"/>
            <a:ext cx="9144000" cy="68580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Backend Development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Flask backend that receives text input from users or websites.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the trained model to make real-time predictions on new comments.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smooth communication between the frontend and backend.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8CFAB-708F-F678-BFDC-9C3FF87E2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36EEC-9EB0-4754-B7F3-F7363CAB860C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EC35E-94DC-7B3F-26B2-72BBA0468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602742-C307-72B1-F2B3-872BF9364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7652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BFA85-D0CC-06A6-9CBB-AF98AE920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D6B15-B96F-0970-54E6-9DDB969CA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274638"/>
            <a:ext cx="15316200" cy="189706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FB4A2-8109-72B9-5519-A17EFB83A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7800" y="2476500"/>
            <a:ext cx="9144000" cy="68580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Frontend &amp; Content Filtering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browser extension that identifies comments on webpages.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the comments to the backend for prediction and blur or hide abusive content.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optional features like unblur buttons for controlled access.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30DE23-3207-2696-BDCA-BCF1E9CB4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36EEC-9EB0-4754-B7F3-F7363CAB860C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8FE2C-7641-4531-0C6E-81FCC1E85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CBB77-8548-5DA7-93A8-23CD17E65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464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701</Words>
  <Application>Microsoft Office PowerPoint</Application>
  <PresentationFormat>Custom</PresentationFormat>
  <Paragraphs>132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Times New Roman Bold</vt:lpstr>
      <vt:lpstr>Times New Roman</vt:lpstr>
      <vt:lpstr>Arial</vt:lpstr>
      <vt:lpstr>Calibri</vt:lpstr>
      <vt:lpstr>Office Theme</vt:lpstr>
      <vt:lpstr>PowerPoint Presentation</vt:lpstr>
      <vt:lpstr>CONTENT OF THE PPT</vt:lpstr>
      <vt:lpstr>INTRODUCTION</vt:lpstr>
      <vt:lpstr>EXISTING PROBLEM STATEMENT</vt:lpstr>
      <vt:lpstr>OBJECTIVE</vt:lpstr>
      <vt:lpstr>LITERATURE SURVEY  PAPER 1 </vt:lpstr>
      <vt:lpstr>LITERATURE SURVEY  PAPER 2 </vt:lpstr>
      <vt:lpstr>LITERATURE SURVEY  PAPER 3 </vt:lpstr>
      <vt:lpstr>LITERATURE SURVEY  PAPER 4 </vt:lpstr>
      <vt:lpstr>LITERATURE SURVEY  PAPER 5 </vt:lpstr>
      <vt:lpstr>ARCHITECTURE DIAGRAM</vt:lpstr>
      <vt:lpstr>MODULE DESCRIPTION</vt:lpstr>
      <vt:lpstr>MODULE DESCRIPTION</vt:lpstr>
      <vt:lpstr>MODULE DESCRIPTION</vt:lpstr>
      <vt:lpstr>MODULE DESCRIPTION</vt:lpstr>
      <vt:lpstr>MODULE DESCRIPTION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Zeroth review</dc:title>
  <dc:creator>Abhisheik Yerubothu</dc:creator>
  <cp:lastModifiedBy>vilasni M</cp:lastModifiedBy>
  <cp:revision>8</cp:revision>
  <dcterms:created xsi:type="dcterms:W3CDTF">2006-08-16T00:00:00Z</dcterms:created>
  <dcterms:modified xsi:type="dcterms:W3CDTF">2025-10-07T01:09:55Z</dcterms:modified>
  <dc:identifier>DAGvxgQbVlA</dc:identifier>
</cp:coreProperties>
</file>